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70" r:id="rId6"/>
    <p:sldId id="267" r:id="rId7"/>
    <p:sldId id="268" r:id="rId8"/>
    <p:sldId id="261" r:id="rId9"/>
    <p:sldId id="262" r:id="rId10"/>
    <p:sldId id="263" r:id="rId11"/>
    <p:sldId id="264" r:id="rId12"/>
    <p:sldId id="265" r:id="rId13"/>
    <p:sldId id="269" r:id="rId14"/>
    <p:sldId id="266" r:id="rId15"/>
    <p:sldId id="271" r:id="rId16"/>
  </p:sldIdLst>
  <p:sldSz cx="24384000" cy="13716000"/>
  <p:notesSz cx="6858000" cy="9144000"/>
  <p:embeddedFontLst>
    <p:embeddedFont>
      <p:font typeface="맑은 고딕" panose="020B0503020000020004" pitchFamily="50" charset="-127"/>
      <p:regular r:id="rId17"/>
      <p:bold r:id="rId18"/>
    </p:embeddedFont>
    <p:embeddedFont>
      <p:font typeface="NanumGothicExtraBold" panose="020B0600000101010101" charset="-127"/>
      <p:bold r:id="rId19"/>
    </p:embeddedFont>
    <p:embeddedFont>
      <p:font typeface="NanumGothic" panose="020B0600000101010101" charset="-127"/>
      <p:regular r:id="rId20"/>
    </p:embeddedFont>
    <p:embeddedFont>
      <p:font typeface="THELuxGoR" panose="020B0600000101010101" charset="-127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8F0"/>
    <a:srgbClr val="0F172A"/>
    <a:srgbClr val="AED3DA"/>
    <a:srgbClr val="53716E"/>
    <a:srgbClr val="1E293B"/>
    <a:srgbClr val="07F0F9"/>
    <a:srgbClr val="00F2FE"/>
    <a:srgbClr val="17181A"/>
    <a:srgbClr val="FF1D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70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3500" y="1320800"/>
            <a:ext cx="21158200" cy="4457700"/>
          </a:xfrm>
          <a:prstGeom prst="rect">
            <a:avLst/>
          </a:prstGeom>
        </p:spPr>
        <p:txBody>
          <a:bodyPr lIns="0" tIns="114297" rIns="0" bIns="109725" rtlCol="0" anchor="ctr"/>
          <a:lstStyle/>
          <a:p>
            <a:pPr lvl="0" algn="l">
              <a:lnSpc>
                <a:spcPct val="104994"/>
              </a:lnSpc>
            </a:pPr>
            <a:r>
              <a:rPr lang="en-US" sz="13332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WorldVision</a:t>
            </a:r>
            <a:r>
              <a:rPr lang="en-US" sz="13332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AI Assistant</a:t>
            </a:r>
          </a:p>
          <a:p>
            <a:pPr lvl="0" algn="l">
              <a:lnSpc>
                <a:spcPct val="104994"/>
              </a:lnSpc>
            </a:pPr>
            <a:r>
              <a:rPr lang="en-US" sz="12799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(</a:t>
            </a:r>
            <a:r>
              <a:rPr lang="en-US" sz="12799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월드비전</a:t>
            </a:r>
            <a:r>
              <a:rPr lang="en-US" sz="12799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AI </a:t>
            </a:r>
            <a:r>
              <a:rPr lang="en-US" sz="12799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어시스턴트</a:t>
            </a:r>
            <a:r>
              <a:rPr lang="en-US" sz="12799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58900" y="7416800"/>
            <a:ext cx="7340600" cy="596900"/>
          </a:xfrm>
          <a:prstGeom prst="rect">
            <a:avLst/>
          </a:prstGeom>
        </p:spPr>
        <p:txBody>
          <a:bodyPr lIns="0" tIns="30479" rIns="0" bIns="30479" rtlCol="0" anchor="ctr"/>
          <a:lstStyle/>
          <a:p>
            <a:pPr lvl="0" algn="l">
              <a:lnSpc>
                <a:spcPct val="103749"/>
              </a:lnSpc>
            </a:pPr>
            <a:r>
              <a:rPr lang="en-US" sz="3199" b="0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이수빈</a:t>
            </a:r>
            <a:r>
              <a:rPr lang="en-US" sz="3199" b="0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, </a:t>
            </a:r>
            <a:r>
              <a:rPr lang="en-US" sz="3199" b="0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김가연</a:t>
            </a:r>
            <a:r>
              <a:rPr lang="en-US" sz="3199" b="0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, </a:t>
            </a:r>
            <a:r>
              <a:rPr lang="en-US" sz="3199" b="0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유고은</a:t>
            </a:r>
            <a:r>
              <a:rPr lang="en-US" sz="3199" b="0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, </a:t>
            </a:r>
            <a:r>
              <a:rPr lang="en-US" sz="3199" b="0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김은채</a:t>
            </a:r>
            <a:r>
              <a:rPr lang="en-US" sz="3199" b="0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, </a:t>
            </a:r>
            <a:r>
              <a:rPr lang="en-US" sz="3199" b="0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정예은</a:t>
            </a:r>
            <a:endParaRPr lang="en-US" sz="3199" b="0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58900" y="6489700"/>
            <a:ext cx="6184900" cy="736600"/>
          </a:xfrm>
          <a:prstGeom prst="rect">
            <a:avLst/>
          </a:prstGeom>
        </p:spPr>
        <p:txBody>
          <a:bodyPr lIns="0" tIns="38099" rIns="0" bIns="38099" rtlCol="0" anchor="ctr"/>
          <a:lstStyle/>
          <a:p>
            <a:pPr lvl="0" algn="l">
              <a:lnSpc>
                <a:spcPct val="103749"/>
              </a:lnSpc>
            </a:pPr>
            <a:r>
              <a:rPr lang="en-US" sz="3999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한밭대학교</a:t>
            </a:r>
            <a:r>
              <a:rPr lang="en-US" sz="3999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3999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인공지능</a:t>
            </a:r>
            <a:r>
              <a:rPr lang="en-US" sz="3999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1팀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638" y="5943600"/>
            <a:ext cx="6535062" cy="684943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4830" y="11658600"/>
            <a:ext cx="1533739" cy="14765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24841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01.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프로젝트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소개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9370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팀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구성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및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역할</a:t>
            </a: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43200" y="4927600"/>
            <a:ext cx="14935200" cy="558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프로덕트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오너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이수빈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: 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전체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프로젝트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일정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리소스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관리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및서비스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요구사항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정의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최종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결과물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검수</a:t>
            </a:r>
            <a:endParaRPr lang="en-US" sz="2933" b="0" i="0" u="none" strike="noStrike" dirty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lvl="0" algn="l">
              <a:lnSpc>
                <a:spcPct val="124499"/>
              </a:lnSpc>
            </a:pP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AI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솔루션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아키텍트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김가연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시스템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전체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AI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백엔드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/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서비스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아키텍처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설계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데이터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흐름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파이프라인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구조화</a:t>
            </a:r>
            <a:endParaRPr lang="en-US" sz="2933" b="0" i="0" u="none" strike="noStrike" dirty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lvl="0" algn="l">
              <a:lnSpc>
                <a:spcPct val="124499"/>
              </a:lnSpc>
            </a:pP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AI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엔지니어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유고은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: 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FastAPI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기반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RESTful API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설계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연동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LangChain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/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OpenAI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활용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핵심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서비스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모듈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개발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, RAG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지식검색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Whisper STT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회의록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변환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기능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구현</a:t>
            </a:r>
            <a:endParaRPr lang="en-US" sz="2933" b="0" i="0" u="none" strike="noStrike" dirty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lvl="0" algn="l">
              <a:lnSpc>
                <a:spcPct val="124499"/>
              </a:lnSpc>
            </a:pP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AI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데이터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사이언티스트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김은채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: 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서비스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입출력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데이터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전처리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품질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검증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RAG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텍스트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임베딩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데이터셋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구성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프롬프트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최적화</a:t>
            </a:r>
            <a:endParaRPr lang="en-US" sz="2933" b="0" i="0" u="none" strike="noStrike" dirty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lvl="0" algn="l">
              <a:lnSpc>
                <a:spcPct val="124499"/>
              </a:lnSpc>
            </a:pP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클라우드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엔지니어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정예은</a:t>
            </a:r>
            <a:r>
              <a:rPr lang="en-US" sz="2933" b="1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: 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개발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배포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환경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(Environment)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설정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의존성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관리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서버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파이프라인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가상환경</a:t>
            </a:r>
            <a:r>
              <a:rPr lang="en-US" sz="2933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Arial"/>
                <a:ea typeface="Arial"/>
                <a:cs typeface="Arial"/>
              </a:rPr>
              <a:t>안정화</a:t>
            </a:r>
            <a:endParaRPr lang="en-US" sz="2933" b="0" i="0" u="none" strike="noStrike" dirty="0">
              <a:solidFill>
                <a:srgbClr val="E2E8F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24841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01.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프로젝트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소개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9370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프로젝트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배경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및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고객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문제</a:t>
            </a: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43200" y="4800600"/>
            <a:ext cx="14935200" cy="391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AutoNum type="arabicPeriod"/>
            </a:pP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사내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정보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탐색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비효율</a:t>
            </a:r>
            <a:endParaRPr lang="en-US" sz="2933" b="1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-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내규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,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지침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,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판례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등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사내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중요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정보가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분산되어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있어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신속한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확인이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어려움</a:t>
            </a:r>
            <a:endParaRPr lang="en-US" sz="2933" b="0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2. 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반복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행정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업무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과중</a:t>
            </a:r>
            <a:endParaRPr lang="en-US" sz="2933" b="1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-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회의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종료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후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음성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녹취록을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직접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정리하고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요약하는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데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많은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시간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소모</a:t>
            </a:r>
            <a:endParaRPr lang="en-US" sz="2933" b="0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-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기획서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및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보고서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작성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시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사내외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자료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취합과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초안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구조화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작업의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수작업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부담</a:t>
            </a:r>
            <a:endParaRPr lang="en-US" sz="2933" b="0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-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반복적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문서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업무로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인해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핵심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사업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역량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집중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저해</a:t>
            </a:r>
            <a:endParaRPr lang="en-US" sz="2933" b="0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43200" y="90932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프로젝트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목표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및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기대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가치</a:t>
            </a: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743200" y="10223500"/>
            <a:ext cx="14935200" cy="111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AutoNum type="arabicPeriod"/>
            </a:pP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정보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탐색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효율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: 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사내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정보를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한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곳에서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검색하고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근거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자료까지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확인</a:t>
            </a:r>
            <a:endParaRPr lang="en-US" sz="2933" b="0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2. 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반복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업무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1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감소</a:t>
            </a:r>
            <a:r>
              <a:rPr lang="en-US" sz="2933" b="1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: 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회의록·요약·보고서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등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반복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문서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업무</a:t>
            </a:r>
            <a:r>
              <a:rPr lang="en-US" sz="2933" b="0" i="0" u="none" strike="noStrike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en-US" sz="2933" b="0" i="0" u="none" strike="noStrike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자동화</a:t>
            </a:r>
            <a:endParaRPr lang="en-US" sz="2933" b="0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24841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02.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서비스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개요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581400"/>
            <a:ext cx="175260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999" b="1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월드비전 </a:t>
            </a:r>
            <a:r>
              <a:rPr lang="en-US" altLang="ko-KR" sz="3999" b="1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AI </a:t>
            </a:r>
            <a:r>
              <a:rPr lang="ko-KR" altLang="en-US" sz="3999" b="1" dirty="0" err="1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어시스턴트는</a:t>
            </a:r>
            <a:r>
              <a:rPr lang="en-US" sz="3999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임직원의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반복적이고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소모적인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행정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업무를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자동화하고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사내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지식을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효율적으로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탐색하기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위한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AI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기반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서비스입니다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43200" y="55372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999" b="1" i="0" u="none" strike="noStrike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핵심 기능 3가지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43200" y="7150100"/>
            <a:ext cx="171450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1" algn="l">
              <a:lnSpc>
                <a:spcPct val="124499"/>
              </a:lnSpc>
            </a:pPr>
            <a:endParaRPr lang="en-US" sz="2930" b="0" i="0" u="none" strike="noStrike" dirty="0" smtClean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marL="0" lvl="1" algn="l">
              <a:lnSpc>
                <a:spcPct val="124499"/>
              </a:lnSpc>
            </a:pPr>
            <a:endParaRPr lang="en-US" sz="2930" dirty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marL="0" lvl="1" algn="l">
              <a:lnSpc>
                <a:spcPct val="124499"/>
              </a:lnSpc>
            </a:pPr>
            <a:endParaRPr lang="en-US" sz="2930" b="0" i="0" u="none" strike="noStrike" dirty="0" smtClean="0">
              <a:solidFill>
                <a:srgbClr val="0F172A"/>
              </a:solidFill>
              <a:latin typeface="Arial"/>
              <a:ea typeface="Arial"/>
              <a:cs typeface="Arial"/>
            </a:endParaRPr>
          </a:p>
          <a:p>
            <a:pPr marL="0" lvl="1" algn="l">
              <a:lnSpc>
                <a:spcPct val="124499"/>
              </a:lnSpc>
            </a:pPr>
            <a:r>
              <a:rPr lang="en-US" sz="2930" b="1" i="0" u="none" strike="noStrike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1. </a:t>
            </a:r>
            <a:r>
              <a:rPr lang="en-US" sz="2930" b="1" i="0" u="none" strike="noStrike" dirty="0" err="1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사내</a:t>
            </a:r>
            <a:r>
              <a:rPr lang="en-US" sz="2930" b="1" i="0" u="none" strike="noStrike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930" b="1" i="0" u="none" strike="noStrike" dirty="0" err="1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지식검색</a:t>
            </a:r>
            <a:endParaRPr lang="en-US" sz="2930" b="1" i="0" u="none" strike="noStrike" dirty="0" smtClean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marL="0" lvl="1">
              <a:lnSpc>
                <a:spcPct val="124499"/>
              </a:lnSpc>
            </a:pPr>
            <a:r>
              <a:rPr lang="en-US" sz="2930" b="0" i="0" u="none" strike="noStrike" dirty="0">
                <a:solidFill>
                  <a:srgbClr val="E2E8F0"/>
                </a:solidFill>
                <a:latin typeface="Arial"/>
                <a:ea typeface="Arial"/>
                <a:cs typeface="Arial"/>
              </a:rPr>
              <a:t> </a:t>
            </a:r>
            <a:r>
              <a:rPr lang="ko-KR" altLang="en-US" sz="2930" dirty="0">
                <a:solidFill>
                  <a:srgbClr val="E2E8F0"/>
                </a:solidFill>
              </a:rPr>
              <a:t>내부 규정 및 문서 기반 </a:t>
            </a:r>
            <a:r>
              <a:rPr lang="en-US" altLang="ko-KR" sz="2930" dirty="0">
                <a:solidFill>
                  <a:srgbClr val="E2E8F0"/>
                </a:solidFill>
              </a:rPr>
              <a:t>RAG </a:t>
            </a:r>
            <a:r>
              <a:rPr lang="ko-KR" altLang="en-US" sz="2930" dirty="0">
                <a:solidFill>
                  <a:srgbClr val="E2E8F0"/>
                </a:solidFill>
              </a:rPr>
              <a:t>검색을 통해 사용자 질문에 대한 근거 기반 답변을 </a:t>
            </a:r>
            <a:r>
              <a:rPr lang="ko-KR" altLang="en-US" sz="2930" dirty="0" smtClean="0">
                <a:solidFill>
                  <a:srgbClr val="E2E8F0"/>
                </a:solidFill>
              </a:rPr>
              <a:t>제공하는</a:t>
            </a:r>
            <a:r>
              <a:rPr lang="en-US" altLang="ko-KR" sz="2930" dirty="0" smtClean="0">
                <a:solidFill>
                  <a:srgbClr val="E2E8F0"/>
                </a:solidFill>
              </a:rPr>
              <a:t> </a:t>
            </a:r>
            <a:r>
              <a:rPr lang="ko-KR" altLang="en-US" sz="2930" dirty="0" smtClean="0">
                <a:solidFill>
                  <a:srgbClr val="E2E8F0"/>
                </a:solidFill>
              </a:rPr>
              <a:t>기능이다</a:t>
            </a:r>
            <a:r>
              <a:rPr lang="en-US" altLang="ko-KR" sz="2930" dirty="0" smtClean="0">
                <a:solidFill>
                  <a:srgbClr val="E2E8F0"/>
                </a:solidFill>
              </a:rPr>
              <a:t>.</a:t>
            </a:r>
          </a:p>
          <a:p>
            <a:pPr marL="0" lvl="1">
              <a:lnSpc>
                <a:spcPct val="124499"/>
              </a:lnSpc>
            </a:pPr>
            <a:r>
              <a:rPr lang="en-US" sz="2930" b="1" i="0" u="none" strike="noStrike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2. AI </a:t>
            </a:r>
            <a:r>
              <a:rPr lang="ko-KR" altLang="en-US" sz="2930" b="1" i="0" u="none" strike="noStrike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회의록 생성</a:t>
            </a:r>
            <a:endParaRPr lang="en-US" altLang="ko-KR" sz="2930" b="1" i="0" u="none" strike="noStrike" dirty="0" smtClean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marL="0" lvl="1">
              <a:lnSpc>
                <a:spcPct val="124499"/>
              </a:lnSpc>
            </a:pPr>
            <a:r>
              <a:rPr lang="ko-KR" altLang="en-US" sz="2930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사용자가 음성 파일을 업로드하면 텍스트로 변환한 후</a:t>
            </a:r>
            <a:r>
              <a:rPr lang="en-US" altLang="ko-KR" sz="2930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, AI </a:t>
            </a:r>
            <a:r>
              <a:rPr lang="ko-KR" altLang="en-US" sz="2930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가 회의 내용을 분석하여 구조화된 회의록을 작성해주는 기능이다</a:t>
            </a:r>
            <a:r>
              <a:rPr lang="en-US" altLang="ko-KR" sz="2930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lvl="1">
              <a:lnSpc>
                <a:spcPct val="124499"/>
              </a:lnSpc>
            </a:pPr>
            <a:r>
              <a:rPr lang="en-US" sz="2930" b="1" i="0" u="none" strike="noStrike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3. AI </a:t>
            </a:r>
            <a:r>
              <a:rPr lang="ko-KR" altLang="en-US" sz="2930" b="1" i="0" u="none" strike="noStrike" dirty="0" smtClean="0">
                <a:solidFill>
                  <a:srgbClr val="E2E8F0"/>
                </a:solidFill>
                <a:latin typeface="Arial"/>
                <a:ea typeface="Arial"/>
                <a:cs typeface="Arial"/>
              </a:rPr>
              <a:t>보고서 생성</a:t>
            </a:r>
            <a:endParaRPr lang="en-US" altLang="ko-KR" sz="2930" b="1" i="0" u="none" strike="noStrike" dirty="0" smtClean="0">
              <a:solidFill>
                <a:srgbClr val="E2E8F0"/>
              </a:solidFill>
              <a:latin typeface="Arial"/>
              <a:ea typeface="Arial"/>
              <a:cs typeface="Arial"/>
            </a:endParaRPr>
          </a:p>
          <a:p>
            <a:pPr marL="0" lvl="1">
              <a:lnSpc>
                <a:spcPct val="124499"/>
              </a:lnSpc>
            </a:pPr>
            <a:r>
              <a:rPr lang="ko-KR" altLang="en-US" sz="2930" dirty="0">
                <a:solidFill>
                  <a:srgbClr val="E2E8F0"/>
                </a:solidFill>
              </a:rPr>
              <a:t>사용자가 주제와 요청 사항을 입력하면 관련 내부 정보를 </a:t>
            </a:r>
            <a:r>
              <a:rPr lang="en-US" altLang="ko-KR" sz="2930" dirty="0">
                <a:solidFill>
                  <a:srgbClr val="E2E8F0"/>
                </a:solidFill>
              </a:rPr>
              <a:t>RAG</a:t>
            </a:r>
            <a:r>
              <a:rPr lang="ko-KR" altLang="en-US" sz="2930" dirty="0">
                <a:solidFill>
                  <a:srgbClr val="E2E8F0"/>
                </a:solidFill>
              </a:rPr>
              <a:t>로 검색하여 전문적인 보고서 구조 및 초안 내용을 자동 </a:t>
            </a:r>
            <a:r>
              <a:rPr lang="ko-KR" altLang="en-US" sz="2930" dirty="0" smtClean="0">
                <a:solidFill>
                  <a:srgbClr val="E2E8F0"/>
                </a:solidFill>
              </a:rPr>
              <a:t>생성</a:t>
            </a:r>
            <a:r>
              <a:rPr lang="ko-KR" altLang="en-US" sz="2930" dirty="0" smtClean="0">
                <a:solidFill>
                  <a:srgbClr val="E2E8F0"/>
                </a:solidFill>
                <a:latin typeface="Arial"/>
                <a:cs typeface="Arial"/>
              </a:rPr>
              <a:t>하는 기능이다</a:t>
            </a:r>
            <a:r>
              <a:rPr lang="en-US" altLang="ko-KR" sz="2930" dirty="0" smtClean="0">
                <a:solidFill>
                  <a:schemeClr val="bg1"/>
                </a:solidFill>
                <a:latin typeface="Arial"/>
                <a:cs typeface="Arial"/>
              </a:rPr>
              <a:t>.</a:t>
            </a:r>
            <a:endParaRPr lang="en-US" sz="2930" b="0" i="0" u="none" strike="noStrike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03.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시스템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설계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및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기술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스택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37338" y="33909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4000" dirty="0">
                <a:solidFill>
                  <a:srgbClr val="E2E8F0"/>
                </a:solidFill>
              </a:rPr>
              <a:t>전체 아키텍처 및 처리 흐름</a:t>
            </a:r>
            <a:endParaRPr lang="ko-KR" altLang="en-US" sz="4000" b="1" dirty="0">
              <a:solidFill>
                <a:srgbClr val="E2E8F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43200" y="7150100"/>
            <a:ext cx="149352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1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THELuxGoR"/>
                <a:ea typeface="THELuxGoR"/>
                <a:cs typeface="THELuxGoR"/>
              </a:rPr>
              <a:t> </a:t>
            </a: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286000" y="5334000"/>
            <a:ext cx="8884139" cy="5867400"/>
          </a:xfrm>
          <a:prstGeom prst="roundRect">
            <a:avLst/>
          </a:prstGeom>
          <a:solidFill>
            <a:srgbClr val="AED3D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rgbClr val="0F172A"/>
                </a:solidFill>
              </a:rPr>
              <a:t>API Layer (</a:t>
            </a:r>
            <a:r>
              <a:rPr lang="en-US" altLang="ko-KR" sz="3200" b="1" dirty="0" err="1">
                <a:solidFill>
                  <a:srgbClr val="0F172A"/>
                </a:solidFill>
              </a:rPr>
              <a:t>FastAPI</a:t>
            </a:r>
            <a:r>
              <a:rPr lang="en-US" altLang="ko-KR" sz="3200" b="1" dirty="0">
                <a:solidFill>
                  <a:srgbClr val="0F172A"/>
                </a:solidFill>
              </a:rPr>
              <a:t> + </a:t>
            </a:r>
            <a:r>
              <a:rPr lang="en-US" altLang="ko-KR" sz="3200" b="1" dirty="0" err="1">
                <a:solidFill>
                  <a:srgbClr val="0F172A"/>
                </a:solidFill>
              </a:rPr>
              <a:t>Pydantic</a:t>
            </a:r>
            <a:r>
              <a:rPr lang="en-US" altLang="ko-KR" sz="3200" b="1" dirty="0" smtClean="0">
                <a:solidFill>
                  <a:srgbClr val="0F172A"/>
                </a:solidFill>
              </a:rPr>
              <a:t>)</a:t>
            </a:r>
          </a:p>
          <a:p>
            <a:pPr algn="ctr"/>
            <a:endParaRPr lang="en-US" altLang="ko-KR" sz="2400" b="1" dirty="0" smtClean="0">
              <a:solidFill>
                <a:srgbClr val="0F172A"/>
              </a:solidFill>
            </a:endParaRPr>
          </a:p>
          <a:p>
            <a:r>
              <a:rPr lang="ko-KR" altLang="en-US" sz="2400" dirty="0" smtClean="0">
                <a:solidFill>
                  <a:srgbClr val="0F172A"/>
                </a:solidFill>
              </a:rPr>
              <a:t>사용자 요청을 공통 </a:t>
            </a:r>
            <a:r>
              <a:rPr lang="en-US" altLang="ko-KR" sz="2400" dirty="0">
                <a:solidFill>
                  <a:srgbClr val="0F172A"/>
                </a:solidFill>
              </a:rPr>
              <a:t>API </a:t>
            </a:r>
            <a:r>
              <a:rPr lang="ko-KR" altLang="en-US" sz="2400" dirty="0" err="1">
                <a:solidFill>
                  <a:srgbClr val="0F172A"/>
                </a:solidFill>
              </a:rPr>
              <a:t>진입점에서</a:t>
            </a:r>
            <a:r>
              <a:rPr lang="ko-KR" altLang="en-US" sz="2400" dirty="0">
                <a:solidFill>
                  <a:srgbClr val="0F172A"/>
                </a:solidFill>
              </a:rPr>
              <a:t> 수신하며</a:t>
            </a:r>
            <a:r>
              <a:rPr lang="en-US" altLang="ko-KR" sz="2400" dirty="0">
                <a:solidFill>
                  <a:srgbClr val="0F172A"/>
                </a:solidFill>
              </a:rPr>
              <a:t>, </a:t>
            </a:r>
            <a:r>
              <a:rPr lang="ko-KR" altLang="en-US" sz="2400" dirty="0">
                <a:solidFill>
                  <a:srgbClr val="0F172A"/>
                </a:solidFill>
              </a:rPr>
              <a:t>외부 시스템 연계를 위한 표준화된 </a:t>
            </a:r>
            <a:r>
              <a:rPr lang="ko-KR" altLang="en-US" sz="2400" dirty="0" err="1">
                <a:solidFill>
                  <a:srgbClr val="0F172A"/>
                </a:solidFill>
              </a:rPr>
              <a:t>엔드포인트</a:t>
            </a:r>
            <a:r>
              <a:rPr lang="ko-KR" altLang="en-US" sz="2400" dirty="0">
                <a:solidFill>
                  <a:srgbClr val="0F172A"/>
                </a:solidFill>
              </a:rPr>
              <a:t> </a:t>
            </a:r>
            <a:r>
              <a:rPr lang="ko-KR" altLang="en-US" sz="2400" dirty="0" smtClean="0">
                <a:solidFill>
                  <a:srgbClr val="0F172A"/>
                </a:solidFill>
              </a:rPr>
              <a:t>제공 </a:t>
            </a:r>
            <a:endParaRPr lang="en-US" altLang="ko-KR" sz="2400" dirty="0" smtClean="0">
              <a:solidFill>
                <a:srgbClr val="0F172A"/>
              </a:solidFill>
            </a:endParaRPr>
          </a:p>
          <a:p>
            <a:r>
              <a:rPr lang="en-US" altLang="ko-KR" sz="2400" dirty="0" smtClean="0">
                <a:solidFill>
                  <a:srgbClr val="0F172A"/>
                </a:solidFill>
              </a:rPr>
              <a:t>schemas.py</a:t>
            </a:r>
            <a:r>
              <a:rPr lang="ko-KR" altLang="en-US" sz="2400" dirty="0">
                <a:solidFill>
                  <a:srgbClr val="0F172A"/>
                </a:solidFill>
              </a:rPr>
              <a:t>를 활용한 정밀한 </a:t>
            </a:r>
            <a:r>
              <a:rPr lang="en-US" altLang="ko-KR" sz="2400" dirty="0">
                <a:solidFill>
                  <a:srgbClr val="0F172A"/>
                </a:solidFill>
              </a:rPr>
              <a:t>Request/Response </a:t>
            </a:r>
            <a:r>
              <a:rPr lang="ko-KR" altLang="en-US" sz="2400" dirty="0">
                <a:solidFill>
                  <a:srgbClr val="0F172A"/>
                </a:solidFill>
              </a:rPr>
              <a:t>스키마 정의 및 엄격한 </a:t>
            </a:r>
            <a:r>
              <a:rPr lang="ko-KR" altLang="en-US" sz="2400" dirty="0" err="1">
                <a:solidFill>
                  <a:srgbClr val="0F172A"/>
                </a:solidFill>
              </a:rPr>
              <a:t>입력값</a:t>
            </a:r>
            <a:r>
              <a:rPr lang="ko-KR" altLang="en-US" sz="2400" dirty="0">
                <a:solidFill>
                  <a:srgbClr val="0F172A"/>
                </a:solidFill>
              </a:rPr>
              <a:t> 검증 수행</a:t>
            </a:r>
            <a:endParaRPr lang="ko-KR" altLang="en-US" sz="2400" dirty="0" smtClean="0">
              <a:solidFill>
                <a:srgbClr val="0F172A"/>
              </a:solidFill>
            </a:endParaRPr>
          </a:p>
          <a:p>
            <a:endParaRPr lang="ko-KR" altLang="en-US" b="1" dirty="0">
              <a:solidFill>
                <a:srgbClr val="0F172A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2922738" y="5334000"/>
            <a:ext cx="8884139" cy="5867400"/>
          </a:xfrm>
          <a:prstGeom prst="roundRect">
            <a:avLst/>
          </a:prstGeom>
          <a:solidFill>
            <a:srgbClr val="AED3D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rgbClr val="0F172A"/>
                </a:solidFill>
              </a:rPr>
              <a:t>Agent </a:t>
            </a:r>
            <a:r>
              <a:rPr lang="en-US" altLang="ko-KR" sz="3200" b="1" dirty="0">
                <a:solidFill>
                  <a:srgbClr val="0F172A"/>
                </a:solidFill>
              </a:rPr>
              <a:t>Core </a:t>
            </a:r>
            <a:r>
              <a:rPr lang="en-US" altLang="ko-KR" sz="3200" b="1" dirty="0" smtClean="0">
                <a:solidFill>
                  <a:srgbClr val="0F172A"/>
                </a:solidFill>
              </a:rPr>
              <a:t>(</a:t>
            </a:r>
            <a:r>
              <a:rPr lang="en-US" altLang="ko-KR" sz="3200" b="1" dirty="0" err="1" smtClean="0">
                <a:solidFill>
                  <a:srgbClr val="0F172A"/>
                </a:solidFill>
              </a:rPr>
              <a:t>LangGraph</a:t>
            </a:r>
            <a:r>
              <a:rPr lang="en-US" altLang="ko-KR" sz="3200" b="1" dirty="0">
                <a:solidFill>
                  <a:srgbClr val="0F172A"/>
                </a:solidFill>
              </a:rPr>
              <a:t>)</a:t>
            </a:r>
            <a:endParaRPr lang="en-US" altLang="ko-KR" sz="2400" b="1" dirty="0">
              <a:solidFill>
                <a:srgbClr val="0F172A"/>
              </a:solidFill>
            </a:endParaRPr>
          </a:p>
          <a:p>
            <a:endParaRPr lang="en-US" altLang="ko-KR" sz="2400" dirty="0">
              <a:solidFill>
                <a:srgbClr val="0F172A"/>
              </a:solidFill>
            </a:endParaRPr>
          </a:p>
          <a:p>
            <a:r>
              <a:rPr lang="ko-KR" altLang="en-US" sz="2400" dirty="0" smtClean="0">
                <a:solidFill>
                  <a:srgbClr val="0F172A"/>
                </a:solidFill>
              </a:rPr>
              <a:t>검증된 요청을 바탕으로 </a:t>
            </a:r>
            <a:r>
              <a:rPr lang="ko-KR" altLang="en-US" sz="2400" dirty="0" smtClean="0">
                <a:solidFill>
                  <a:srgbClr val="0F172A"/>
                </a:solidFill>
              </a:rPr>
              <a:t>지식검색</a:t>
            </a:r>
            <a:r>
              <a:rPr lang="en-US" altLang="ko-KR" sz="2400" dirty="0" smtClean="0">
                <a:solidFill>
                  <a:srgbClr val="0F172A"/>
                </a:solidFill>
              </a:rPr>
              <a:t>·</a:t>
            </a:r>
            <a:r>
              <a:rPr lang="ko-KR" altLang="en-US" sz="2400" dirty="0">
                <a:solidFill>
                  <a:srgbClr val="0F172A"/>
                </a:solidFill>
              </a:rPr>
              <a:t>회의록</a:t>
            </a:r>
            <a:r>
              <a:rPr lang="en-US" altLang="ko-KR" sz="2400" dirty="0">
                <a:solidFill>
                  <a:srgbClr val="0F172A"/>
                </a:solidFill>
              </a:rPr>
              <a:t>·</a:t>
            </a:r>
            <a:r>
              <a:rPr lang="ko-KR" altLang="en-US" sz="2400" dirty="0">
                <a:solidFill>
                  <a:srgbClr val="0F172A"/>
                </a:solidFill>
              </a:rPr>
              <a:t>보고서 등 </a:t>
            </a:r>
            <a:r>
              <a:rPr lang="ko-KR" altLang="en-US" sz="2400" dirty="0" smtClean="0">
                <a:solidFill>
                  <a:srgbClr val="0F172A"/>
                </a:solidFill>
              </a:rPr>
              <a:t>복수 </a:t>
            </a:r>
            <a:r>
              <a:rPr lang="en-US" altLang="ko-KR" sz="2400" dirty="0">
                <a:solidFill>
                  <a:srgbClr val="0F172A"/>
                </a:solidFill>
              </a:rPr>
              <a:t>AI Workflow</a:t>
            </a:r>
            <a:r>
              <a:rPr lang="ko-KR" altLang="en-US" sz="2400" dirty="0">
                <a:solidFill>
                  <a:srgbClr val="0F172A"/>
                </a:solidFill>
              </a:rPr>
              <a:t>로 유기적 </a:t>
            </a:r>
            <a:r>
              <a:rPr lang="ko-KR" altLang="en-US" sz="2400" dirty="0" smtClean="0">
                <a:solidFill>
                  <a:srgbClr val="0F172A"/>
                </a:solidFill>
              </a:rPr>
              <a:t>라우팅 및 상태 관리 수행</a:t>
            </a:r>
            <a:endParaRPr lang="en-US" altLang="ko-KR" sz="2400" dirty="0" smtClean="0">
              <a:solidFill>
                <a:srgbClr val="0F172A"/>
              </a:solidFill>
            </a:endParaRPr>
          </a:p>
          <a:p>
            <a:r>
              <a:rPr lang="en-US" altLang="ko-KR" sz="2400" dirty="0" err="1" smtClean="0">
                <a:solidFill>
                  <a:srgbClr val="0F172A"/>
                </a:solidFill>
              </a:rPr>
              <a:t>LangGraph</a:t>
            </a:r>
            <a:r>
              <a:rPr lang="en-US" altLang="ko-KR" sz="2400" dirty="0" smtClean="0">
                <a:solidFill>
                  <a:srgbClr val="0F172A"/>
                </a:solidFill>
              </a:rPr>
              <a:t> </a:t>
            </a:r>
            <a:r>
              <a:rPr lang="ko-KR" altLang="en-US" sz="2400" dirty="0" smtClean="0">
                <a:solidFill>
                  <a:srgbClr val="0F172A"/>
                </a:solidFill>
              </a:rPr>
              <a:t>기반의 세밀한 실행 흐름 제어</a:t>
            </a:r>
            <a:endParaRPr lang="en-US" altLang="ko-KR" sz="2400" dirty="0" smtClean="0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10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03.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시스템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설계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및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기술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스택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37338" y="33909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4000" b="1" dirty="0">
                <a:solidFill>
                  <a:srgbClr val="E2E8F0"/>
                </a:solidFill>
              </a:rPr>
              <a:t>데이터 레이어 및 </a:t>
            </a:r>
            <a:r>
              <a:rPr lang="en-US" altLang="ko-KR" sz="4000" b="1" dirty="0">
                <a:solidFill>
                  <a:srgbClr val="E2E8F0"/>
                </a:solidFill>
              </a:rPr>
              <a:t>RAG </a:t>
            </a:r>
            <a:r>
              <a:rPr lang="ko-KR" altLang="en-US" sz="4000" b="1" dirty="0">
                <a:solidFill>
                  <a:srgbClr val="E2E8F0"/>
                </a:solidFill>
              </a:rPr>
              <a:t>구조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43200" y="7150100"/>
            <a:ext cx="149352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1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THELuxGoR"/>
                <a:ea typeface="THELuxGoR"/>
                <a:cs typeface="THELuxGoR"/>
              </a:rPr>
              <a:t> </a:t>
            </a: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286000" y="5334000"/>
            <a:ext cx="8884139" cy="5867400"/>
          </a:xfrm>
          <a:prstGeom prst="roundRect">
            <a:avLst/>
          </a:prstGeom>
          <a:solidFill>
            <a:srgbClr val="AED3D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rgbClr val="0F172A"/>
                </a:solidFill>
              </a:rPr>
              <a:t>PostgreSQL + </a:t>
            </a:r>
            <a:r>
              <a:rPr lang="en-US" altLang="ko-KR" sz="3200" b="1" dirty="0" err="1">
                <a:solidFill>
                  <a:srgbClr val="0F172A"/>
                </a:solidFill>
              </a:rPr>
              <a:t>pgvector</a:t>
            </a:r>
            <a:r>
              <a:rPr lang="en-US" altLang="ko-KR" sz="3200" b="1" dirty="0">
                <a:solidFill>
                  <a:srgbClr val="0F172A"/>
                </a:solidFill>
              </a:rPr>
              <a:t> </a:t>
            </a:r>
          </a:p>
          <a:p>
            <a:endParaRPr lang="en-US" altLang="ko-KR" sz="2400" b="1" dirty="0" smtClean="0">
              <a:solidFill>
                <a:srgbClr val="0F172A"/>
              </a:solidFill>
            </a:endParaRPr>
          </a:p>
          <a:p>
            <a:r>
              <a:rPr lang="ko-KR" altLang="en-US" sz="2400" b="1" dirty="0">
                <a:solidFill>
                  <a:srgbClr val="0F172A"/>
                </a:solidFill>
              </a:rPr>
              <a:t>통합 관리</a:t>
            </a:r>
            <a:r>
              <a:rPr lang="en-US" altLang="ko-KR" sz="2400" b="1" dirty="0">
                <a:solidFill>
                  <a:srgbClr val="0F172A"/>
                </a:solidFill>
              </a:rPr>
              <a:t>:</a:t>
            </a:r>
            <a:r>
              <a:rPr lang="ko-KR" altLang="en-US" sz="2400" dirty="0">
                <a:solidFill>
                  <a:srgbClr val="0F172A"/>
                </a:solidFill>
              </a:rPr>
              <a:t> 일반 사내 문서 메타데이터와 </a:t>
            </a:r>
            <a:r>
              <a:rPr lang="en-US" altLang="ko-KR" sz="2400" dirty="0">
                <a:solidFill>
                  <a:srgbClr val="0F172A"/>
                </a:solidFill>
              </a:rPr>
              <a:t>Embedding Vector</a:t>
            </a:r>
            <a:r>
              <a:rPr lang="ko-KR" altLang="en-US" sz="2400" dirty="0">
                <a:solidFill>
                  <a:srgbClr val="0F172A"/>
                </a:solidFill>
              </a:rPr>
              <a:t>를 단일 </a:t>
            </a:r>
            <a:r>
              <a:rPr lang="en-US" altLang="ko-KR" sz="2400" dirty="0">
                <a:solidFill>
                  <a:srgbClr val="0F172A"/>
                </a:solidFill>
              </a:rPr>
              <a:t>DB</a:t>
            </a:r>
            <a:r>
              <a:rPr lang="ko-KR" altLang="en-US" sz="2400" dirty="0">
                <a:solidFill>
                  <a:srgbClr val="0F172A"/>
                </a:solidFill>
              </a:rPr>
              <a:t>에서 동시 관리</a:t>
            </a:r>
          </a:p>
          <a:p>
            <a:r>
              <a:rPr lang="en-US" altLang="ko-KR" sz="2400" b="1" dirty="0">
                <a:solidFill>
                  <a:srgbClr val="0F172A"/>
                </a:solidFill>
              </a:rPr>
              <a:t>RAG </a:t>
            </a:r>
            <a:r>
              <a:rPr lang="ko-KR" altLang="en-US" sz="2400" b="1" dirty="0">
                <a:solidFill>
                  <a:srgbClr val="0F172A"/>
                </a:solidFill>
              </a:rPr>
              <a:t>최적화</a:t>
            </a:r>
            <a:r>
              <a:rPr lang="en-US" altLang="ko-KR" sz="2400" b="1" dirty="0">
                <a:solidFill>
                  <a:srgbClr val="0F172A"/>
                </a:solidFill>
              </a:rPr>
              <a:t>:</a:t>
            </a:r>
            <a:r>
              <a:rPr lang="ko-KR" altLang="en-US" sz="2400" dirty="0">
                <a:solidFill>
                  <a:srgbClr val="0F172A"/>
                </a:solidFill>
              </a:rPr>
              <a:t> 사용자 질문 벡터와 문서 벡터 간 </a:t>
            </a:r>
            <a:r>
              <a:rPr lang="ko-KR" altLang="en-US" sz="2400" dirty="0" smtClean="0">
                <a:solidFill>
                  <a:srgbClr val="0F172A"/>
                </a:solidFill>
              </a:rPr>
              <a:t>유사도</a:t>
            </a:r>
            <a:r>
              <a:rPr lang="en-US" altLang="ko-KR" sz="2400" dirty="0">
                <a:solidFill>
                  <a:srgbClr val="0F172A"/>
                </a:solidFill>
              </a:rPr>
              <a:t>Data </a:t>
            </a:r>
            <a:r>
              <a:rPr lang="en-US" altLang="ko-KR" sz="2400" dirty="0" smtClean="0">
                <a:solidFill>
                  <a:srgbClr val="0F172A"/>
                </a:solidFill>
              </a:rPr>
              <a:t>Layer </a:t>
            </a:r>
            <a:r>
              <a:rPr lang="ko-KR" altLang="en-US" sz="2400" dirty="0" smtClean="0">
                <a:solidFill>
                  <a:srgbClr val="0F172A"/>
                </a:solidFill>
              </a:rPr>
              <a:t>활용</a:t>
            </a:r>
            <a:endParaRPr lang="ko-KR" altLang="en-US" b="1" dirty="0">
              <a:solidFill>
                <a:srgbClr val="0F172A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2922738" y="5334000"/>
            <a:ext cx="8884139" cy="5867400"/>
          </a:xfrm>
          <a:prstGeom prst="roundRect">
            <a:avLst/>
          </a:prstGeom>
          <a:solidFill>
            <a:srgbClr val="AED3D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smtClean="0">
                <a:solidFill>
                  <a:srgbClr val="0F172A"/>
                </a:solidFill>
              </a:rPr>
              <a:t>고도화된 </a:t>
            </a:r>
            <a:r>
              <a:rPr lang="en-US" altLang="ko-KR" sz="3200" b="1" dirty="0" smtClean="0">
                <a:solidFill>
                  <a:srgbClr val="0F172A"/>
                </a:solidFill>
              </a:rPr>
              <a:t>RAG </a:t>
            </a:r>
            <a:r>
              <a:rPr lang="ko-KR" altLang="en-US" sz="3200" b="1" dirty="0" smtClean="0">
                <a:solidFill>
                  <a:srgbClr val="0F172A"/>
                </a:solidFill>
              </a:rPr>
              <a:t>파이프라인</a:t>
            </a:r>
            <a:endParaRPr lang="en-US" altLang="ko-KR" sz="3200" b="1" dirty="0" smtClean="0">
              <a:solidFill>
                <a:srgbClr val="0F172A"/>
              </a:solidFill>
            </a:endParaRPr>
          </a:p>
          <a:p>
            <a:endParaRPr lang="en-US" altLang="ko-KR" sz="2400" b="1" dirty="0">
              <a:solidFill>
                <a:srgbClr val="0F172A"/>
              </a:solidFill>
            </a:endParaRPr>
          </a:p>
          <a:p>
            <a:r>
              <a:rPr lang="en-US" altLang="ko-KR" sz="2400" b="1" dirty="0">
                <a:solidFill>
                  <a:srgbClr val="0F172A"/>
                </a:solidFill>
              </a:rPr>
              <a:t>Hybrid Retrieval</a:t>
            </a:r>
            <a:r>
              <a:rPr lang="en-US" altLang="ko-KR" sz="2400" b="1" dirty="0" smtClean="0">
                <a:solidFill>
                  <a:srgbClr val="0F172A"/>
                </a:solidFill>
              </a:rPr>
              <a:t>:</a:t>
            </a:r>
            <a:r>
              <a:rPr lang="ko-KR" altLang="en-US" sz="2400" dirty="0">
                <a:solidFill>
                  <a:srgbClr val="0F172A"/>
                </a:solidFill>
              </a:rPr>
              <a:t> </a:t>
            </a:r>
            <a:r>
              <a:rPr lang="en-US" altLang="ko-KR" sz="2400" dirty="0">
                <a:solidFill>
                  <a:srgbClr val="0F172A"/>
                </a:solidFill>
              </a:rPr>
              <a:t>Vector Search</a:t>
            </a:r>
            <a:r>
              <a:rPr lang="ko-KR" altLang="en-US" sz="2400" dirty="0">
                <a:solidFill>
                  <a:srgbClr val="0F172A"/>
                </a:solidFill>
              </a:rPr>
              <a:t>와 </a:t>
            </a:r>
            <a:r>
              <a:rPr lang="en-US" altLang="ko-KR" sz="2400" dirty="0">
                <a:solidFill>
                  <a:srgbClr val="0F172A"/>
                </a:solidFill>
              </a:rPr>
              <a:t>Keyword Search</a:t>
            </a:r>
            <a:r>
              <a:rPr lang="ko-KR" altLang="en-US" sz="2400" dirty="0">
                <a:solidFill>
                  <a:srgbClr val="0F172A"/>
                </a:solidFill>
              </a:rPr>
              <a:t>를 결합한 다중 검색 </a:t>
            </a:r>
            <a:r>
              <a:rPr lang="ko-KR" altLang="en-US" sz="2400" dirty="0" smtClean="0">
                <a:solidFill>
                  <a:srgbClr val="0F172A"/>
                </a:solidFill>
              </a:rPr>
              <a:t>수행</a:t>
            </a:r>
            <a:endParaRPr lang="en-US" altLang="ko-KR" sz="2400" dirty="0" smtClean="0">
              <a:solidFill>
                <a:srgbClr val="0F172A"/>
              </a:solidFill>
            </a:endParaRPr>
          </a:p>
          <a:p>
            <a:r>
              <a:rPr lang="en-US" altLang="ko-KR" sz="2400" b="1" dirty="0">
                <a:solidFill>
                  <a:srgbClr val="0F172A"/>
                </a:solidFill>
              </a:rPr>
              <a:t>Context Expansion</a:t>
            </a:r>
            <a:r>
              <a:rPr lang="en-US" altLang="ko-KR" sz="2400" b="1" dirty="0" smtClean="0">
                <a:solidFill>
                  <a:srgbClr val="0F172A"/>
                </a:solidFill>
              </a:rPr>
              <a:t>:</a:t>
            </a:r>
            <a:r>
              <a:rPr lang="ko-KR" altLang="en-US" sz="2400" dirty="0">
                <a:solidFill>
                  <a:srgbClr val="0F172A"/>
                </a:solidFill>
              </a:rPr>
              <a:t> </a:t>
            </a:r>
            <a:r>
              <a:rPr lang="en-US" altLang="ko-KR" sz="2400" dirty="0">
                <a:solidFill>
                  <a:srgbClr val="0F172A"/>
                </a:solidFill>
              </a:rPr>
              <a:t>Source/Page Metadata</a:t>
            </a:r>
            <a:r>
              <a:rPr lang="ko-KR" altLang="en-US" sz="2400" dirty="0">
                <a:solidFill>
                  <a:srgbClr val="0F172A"/>
                </a:solidFill>
              </a:rPr>
              <a:t>를 활용하여 동일 페이지 내 </a:t>
            </a:r>
            <a:r>
              <a:rPr lang="en-US" altLang="ko-KR" sz="2400" dirty="0">
                <a:solidFill>
                  <a:srgbClr val="0F172A"/>
                </a:solidFill>
              </a:rPr>
              <a:t>Chunk </a:t>
            </a:r>
            <a:r>
              <a:rPr lang="ko-KR" altLang="en-US" sz="2400" dirty="0">
                <a:solidFill>
                  <a:srgbClr val="0F172A"/>
                </a:solidFill>
              </a:rPr>
              <a:t>추가 </a:t>
            </a:r>
            <a:r>
              <a:rPr lang="ko-KR" altLang="en-US" sz="2400" dirty="0" smtClean="0">
                <a:solidFill>
                  <a:srgbClr val="0F172A"/>
                </a:solidFill>
              </a:rPr>
              <a:t>조회</a:t>
            </a:r>
            <a:endParaRPr lang="en-US" altLang="ko-KR" sz="2400" dirty="0" smtClean="0">
              <a:solidFill>
                <a:srgbClr val="0F172A"/>
              </a:solidFill>
            </a:endParaRPr>
          </a:p>
          <a:p>
            <a:r>
              <a:rPr lang="en-US" altLang="ko-KR" sz="2400" b="1" dirty="0" err="1">
                <a:solidFill>
                  <a:srgbClr val="0F172A"/>
                </a:solidFill>
              </a:rPr>
              <a:t>Reranking</a:t>
            </a:r>
            <a:r>
              <a:rPr lang="en-US" altLang="ko-KR" sz="2400" b="1" dirty="0">
                <a:solidFill>
                  <a:srgbClr val="0F172A"/>
                </a:solidFill>
              </a:rPr>
              <a:t> &amp; LLM</a:t>
            </a:r>
            <a:r>
              <a:rPr lang="en-US" altLang="ko-KR" sz="2400" b="1" dirty="0" smtClean="0">
                <a:solidFill>
                  <a:srgbClr val="0F172A"/>
                </a:solidFill>
              </a:rPr>
              <a:t>:</a:t>
            </a:r>
            <a:r>
              <a:rPr lang="ko-KR" altLang="en-US" sz="2400" dirty="0">
                <a:solidFill>
                  <a:srgbClr val="0F172A"/>
                </a:solidFill>
              </a:rPr>
              <a:t> </a:t>
            </a:r>
            <a:r>
              <a:rPr lang="en-US" altLang="ko-KR" sz="2400" dirty="0" err="1">
                <a:solidFill>
                  <a:srgbClr val="0F172A"/>
                </a:solidFill>
              </a:rPr>
              <a:t>Reranking</a:t>
            </a:r>
            <a:r>
              <a:rPr lang="ko-KR" altLang="en-US" sz="2400" dirty="0">
                <a:solidFill>
                  <a:srgbClr val="0F172A"/>
                </a:solidFill>
              </a:rPr>
              <a:t>을 거쳐 연관성 높은 문맥을 선별한 뒤 </a:t>
            </a:r>
            <a:r>
              <a:rPr lang="en-US" altLang="ko-KR" sz="2400" dirty="0">
                <a:solidFill>
                  <a:srgbClr val="0F172A"/>
                </a:solidFill>
              </a:rPr>
              <a:t>LLM </a:t>
            </a:r>
            <a:r>
              <a:rPr lang="ko-KR" altLang="en-US" sz="2400" dirty="0">
                <a:solidFill>
                  <a:srgbClr val="0F172A"/>
                </a:solidFill>
              </a:rPr>
              <a:t>답변 생성 및 출처 명시</a:t>
            </a:r>
          </a:p>
        </p:txBody>
      </p:sp>
    </p:spTree>
    <p:extLst>
      <p:ext uri="{BB962C8B-B14F-4D97-AF65-F5344CB8AC3E}">
        <p14:creationId xmlns:p14="http://schemas.microsoft.com/office/powerpoint/2010/main" val="163799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03.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시스템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설계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및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기술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스택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37338" y="33909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4000" b="1" dirty="0">
                <a:solidFill>
                  <a:srgbClr val="E2E8F0"/>
                </a:solidFill>
              </a:rPr>
              <a:t>기술 스택 및 품질</a:t>
            </a:r>
            <a:r>
              <a:rPr lang="en-US" altLang="ko-KR" sz="4000" b="1" dirty="0">
                <a:solidFill>
                  <a:srgbClr val="E2E8F0"/>
                </a:solidFill>
              </a:rPr>
              <a:t>·</a:t>
            </a:r>
            <a:r>
              <a:rPr lang="ko-KR" altLang="en-US" sz="4000" b="1" dirty="0">
                <a:solidFill>
                  <a:srgbClr val="E2E8F0"/>
                </a:solidFill>
              </a:rPr>
              <a:t>배포 관리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43200" y="7150100"/>
            <a:ext cx="149352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1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THELuxGoR"/>
                <a:ea typeface="THELuxGoR"/>
                <a:cs typeface="THELuxGoR"/>
              </a:rPr>
              <a:t> </a:t>
            </a: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041886" y="5361432"/>
            <a:ext cx="5791200" cy="5867400"/>
          </a:xfrm>
          <a:prstGeom prst="roundRect">
            <a:avLst/>
          </a:prstGeom>
          <a:solidFill>
            <a:srgbClr val="AED3D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rgbClr val="0F172A"/>
                </a:solidFill>
              </a:rPr>
              <a:t>Runtime &amp; </a:t>
            </a:r>
            <a:r>
              <a:rPr lang="en-US" altLang="ko-KR" sz="3200" b="1" dirty="0" smtClean="0">
                <a:solidFill>
                  <a:srgbClr val="0F172A"/>
                </a:solidFill>
              </a:rPr>
              <a:t>Format</a:t>
            </a:r>
          </a:p>
          <a:p>
            <a:pPr algn="ctr"/>
            <a:endParaRPr lang="en-US" altLang="ko-KR" sz="3200" b="1" dirty="0" smtClean="0">
              <a:solidFill>
                <a:srgbClr val="0F172A"/>
              </a:solidFill>
            </a:endParaRPr>
          </a:p>
          <a:p>
            <a:r>
              <a:rPr lang="en-US" altLang="ko-KR" sz="2400" b="1" dirty="0" err="1">
                <a:solidFill>
                  <a:srgbClr val="0F172A"/>
                </a:solidFill>
              </a:rPr>
              <a:t>uv</a:t>
            </a:r>
            <a:r>
              <a:rPr lang="en-US" altLang="ko-KR" sz="2400" b="1" dirty="0">
                <a:solidFill>
                  <a:srgbClr val="0F172A"/>
                </a:solidFill>
              </a:rPr>
              <a:t>:</a:t>
            </a:r>
            <a:r>
              <a:rPr lang="ko-KR" altLang="en-US" sz="2400" dirty="0">
                <a:solidFill>
                  <a:srgbClr val="0F172A"/>
                </a:solidFill>
              </a:rPr>
              <a:t> </a:t>
            </a:r>
            <a:r>
              <a:rPr lang="ko-KR" altLang="en-US" sz="2400" dirty="0" err="1">
                <a:solidFill>
                  <a:srgbClr val="0F172A"/>
                </a:solidFill>
              </a:rPr>
              <a:t>팀원별</a:t>
            </a:r>
            <a:r>
              <a:rPr lang="ko-KR" altLang="en-US" sz="2400" dirty="0">
                <a:solidFill>
                  <a:srgbClr val="0F172A"/>
                </a:solidFill>
              </a:rPr>
              <a:t> 개발환경 및 패키지 의존성 완벽 통일</a:t>
            </a:r>
            <a:br>
              <a:rPr lang="ko-KR" altLang="en-US" sz="2400" dirty="0">
                <a:solidFill>
                  <a:srgbClr val="0F172A"/>
                </a:solidFill>
              </a:rPr>
            </a:br>
            <a:r>
              <a:rPr lang="en-US" altLang="ko-KR" sz="2400" b="1" dirty="0">
                <a:solidFill>
                  <a:srgbClr val="0F172A"/>
                </a:solidFill>
              </a:rPr>
              <a:t>Ruff:</a:t>
            </a:r>
            <a:r>
              <a:rPr lang="ko-KR" altLang="en-US" sz="2400" dirty="0">
                <a:solidFill>
                  <a:srgbClr val="0F172A"/>
                </a:solidFill>
              </a:rPr>
              <a:t> </a:t>
            </a:r>
            <a:r>
              <a:rPr lang="ko-KR" altLang="en-US" sz="2400" dirty="0" err="1">
                <a:solidFill>
                  <a:srgbClr val="0F172A"/>
                </a:solidFill>
              </a:rPr>
              <a:t>파이썬</a:t>
            </a:r>
            <a:r>
              <a:rPr lang="ko-KR" altLang="en-US" sz="2400" dirty="0">
                <a:solidFill>
                  <a:srgbClr val="0F172A"/>
                </a:solidFill>
              </a:rPr>
              <a:t> 코드 정적 검사 및 </a:t>
            </a:r>
            <a:r>
              <a:rPr lang="ko-KR" altLang="en-US" sz="2400" dirty="0" err="1">
                <a:solidFill>
                  <a:srgbClr val="0F172A"/>
                </a:solidFill>
              </a:rPr>
              <a:t>포맷팅</a:t>
            </a:r>
            <a:r>
              <a:rPr lang="ko-KR" altLang="en-US" sz="2400" dirty="0">
                <a:solidFill>
                  <a:srgbClr val="0F172A"/>
                </a:solidFill>
              </a:rPr>
              <a:t> 통일로 통합 안정성 확보</a:t>
            </a:r>
            <a:endParaRPr lang="en-US" altLang="ko-KR" sz="2400" b="1" dirty="0">
              <a:solidFill>
                <a:srgbClr val="0F172A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9107677" y="5361432"/>
            <a:ext cx="5791200" cy="5867400"/>
          </a:xfrm>
          <a:prstGeom prst="roundRect">
            <a:avLst/>
          </a:prstGeom>
          <a:solidFill>
            <a:srgbClr val="AED3D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rgbClr val="0F172A"/>
                </a:solidFill>
              </a:rPr>
              <a:t>Quality &amp; </a:t>
            </a:r>
            <a:r>
              <a:rPr lang="en-US" altLang="ko-KR" sz="3200" b="1" dirty="0" smtClean="0">
                <a:solidFill>
                  <a:srgbClr val="0F172A"/>
                </a:solidFill>
              </a:rPr>
              <a:t>Trace</a:t>
            </a:r>
          </a:p>
          <a:p>
            <a:pPr algn="ctr"/>
            <a:endParaRPr lang="en-US" altLang="ko-KR" sz="3200" b="1" dirty="0">
              <a:solidFill>
                <a:srgbClr val="0F172A"/>
              </a:solidFill>
            </a:endParaRPr>
          </a:p>
          <a:p>
            <a:r>
              <a:rPr lang="en-US" altLang="ko-KR" sz="2400" b="1" dirty="0" err="1">
                <a:solidFill>
                  <a:srgbClr val="0F172A"/>
                </a:solidFill>
              </a:rPr>
              <a:t>Langfuse</a:t>
            </a:r>
            <a:r>
              <a:rPr lang="en-US" altLang="ko-KR" sz="2400" b="1" dirty="0">
                <a:solidFill>
                  <a:srgbClr val="0F172A"/>
                </a:solidFill>
              </a:rPr>
              <a:t>:</a:t>
            </a:r>
            <a:r>
              <a:rPr lang="ko-KR" altLang="en-US" sz="2400" dirty="0">
                <a:solidFill>
                  <a:srgbClr val="0F172A"/>
                </a:solidFill>
              </a:rPr>
              <a:t> </a:t>
            </a:r>
            <a:r>
              <a:rPr lang="en-US" altLang="ko-KR" sz="2400" dirty="0">
                <a:solidFill>
                  <a:srgbClr val="0F172A"/>
                </a:solidFill>
              </a:rPr>
              <a:t>LLM </a:t>
            </a:r>
            <a:r>
              <a:rPr lang="ko-KR" altLang="en-US" sz="2400" dirty="0">
                <a:solidFill>
                  <a:srgbClr val="0F172A"/>
                </a:solidFill>
              </a:rPr>
              <a:t>호출</a:t>
            </a:r>
            <a:r>
              <a:rPr lang="en-US" altLang="ko-KR" sz="2400" dirty="0">
                <a:solidFill>
                  <a:srgbClr val="0F172A"/>
                </a:solidFill>
              </a:rPr>
              <a:t>, RAG </a:t>
            </a:r>
            <a:r>
              <a:rPr lang="ko-KR" altLang="en-US" sz="2400" dirty="0">
                <a:solidFill>
                  <a:srgbClr val="0F172A"/>
                </a:solidFill>
              </a:rPr>
              <a:t>검색</a:t>
            </a:r>
            <a:r>
              <a:rPr lang="en-US" altLang="ko-KR" sz="2400" dirty="0">
                <a:solidFill>
                  <a:srgbClr val="0F172A"/>
                </a:solidFill>
              </a:rPr>
              <a:t>, </a:t>
            </a:r>
            <a:r>
              <a:rPr lang="ko-KR" altLang="en-US" sz="2400" dirty="0">
                <a:solidFill>
                  <a:srgbClr val="0F172A"/>
                </a:solidFill>
              </a:rPr>
              <a:t>에이전트 실행 흐름의 </a:t>
            </a:r>
            <a:r>
              <a:rPr lang="en-US" altLang="ko-KR" sz="2400" dirty="0">
                <a:solidFill>
                  <a:srgbClr val="0F172A"/>
                </a:solidFill>
              </a:rPr>
              <a:t>Trace </a:t>
            </a:r>
            <a:r>
              <a:rPr lang="ko-KR" altLang="en-US" sz="2400" dirty="0">
                <a:solidFill>
                  <a:srgbClr val="0F172A"/>
                </a:solidFill>
              </a:rPr>
              <a:t>추적 및 품질 모니터링</a:t>
            </a:r>
            <a:br>
              <a:rPr lang="ko-KR" altLang="en-US" sz="2400" dirty="0">
                <a:solidFill>
                  <a:srgbClr val="0F172A"/>
                </a:solidFill>
              </a:rPr>
            </a:br>
            <a:r>
              <a:rPr lang="en-US" altLang="ko-KR" sz="2400" b="1" dirty="0" err="1">
                <a:solidFill>
                  <a:srgbClr val="0F172A"/>
                </a:solidFill>
              </a:rPr>
              <a:t>Pytest</a:t>
            </a:r>
            <a:r>
              <a:rPr lang="en-US" altLang="ko-KR" sz="2400" b="1" dirty="0">
                <a:solidFill>
                  <a:srgbClr val="0F172A"/>
                </a:solidFill>
              </a:rPr>
              <a:t>:</a:t>
            </a:r>
            <a:r>
              <a:rPr lang="ko-KR" altLang="en-US" sz="2400" dirty="0">
                <a:solidFill>
                  <a:srgbClr val="0F172A"/>
                </a:solidFill>
              </a:rPr>
              <a:t> 단위 및 통합 테스트 자동화</a:t>
            </a:r>
            <a:endParaRPr lang="en-US" altLang="ko-KR" sz="2400" b="1" dirty="0" smtClean="0">
              <a:solidFill>
                <a:srgbClr val="0F172A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6154400" y="5364480"/>
            <a:ext cx="5791200" cy="5867400"/>
          </a:xfrm>
          <a:prstGeom prst="roundRect">
            <a:avLst/>
          </a:prstGeom>
          <a:solidFill>
            <a:srgbClr val="AED3D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rgbClr val="0F172A"/>
                </a:solidFill>
              </a:rPr>
              <a:t>Ship &amp; </a:t>
            </a:r>
            <a:r>
              <a:rPr lang="en-US" altLang="ko-KR" sz="3200" b="1" dirty="0" smtClean="0">
                <a:solidFill>
                  <a:srgbClr val="0F172A"/>
                </a:solidFill>
              </a:rPr>
              <a:t>Deploy</a:t>
            </a:r>
          </a:p>
          <a:p>
            <a:pPr algn="ctr"/>
            <a:endParaRPr lang="en-US" altLang="ko-KR" sz="2400" b="1" dirty="0" smtClean="0">
              <a:solidFill>
                <a:srgbClr val="0F172A"/>
              </a:solidFill>
            </a:endParaRPr>
          </a:p>
          <a:p>
            <a:r>
              <a:rPr lang="en-US" altLang="ko-KR" sz="2400" b="1" dirty="0">
                <a:solidFill>
                  <a:srgbClr val="0F172A"/>
                </a:solidFill>
              </a:rPr>
              <a:t>Docker:</a:t>
            </a:r>
            <a:r>
              <a:rPr lang="ko-KR" altLang="en-US" sz="2400" dirty="0">
                <a:solidFill>
                  <a:srgbClr val="0F172A"/>
                </a:solidFill>
              </a:rPr>
              <a:t> 애플리케이션 및 의존성을 컨테이너 이미지로 </a:t>
            </a:r>
            <a:r>
              <a:rPr lang="ko-KR" altLang="en-US" sz="2400" dirty="0" err="1">
                <a:solidFill>
                  <a:srgbClr val="0F172A"/>
                </a:solidFill>
              </a:rPr>
              <a:t>패키징</a:t>
            </a:r>
            <a:r>
              <a:rPr lang="ko-KR" altLang="en-US" sz="2400" dirty="0">
                <a:solidFill>
                  <a:srgbClr val="0F172A"/>
                </a:solidFill>
              </a:rPr>
              <a:t/>
            </a:r>
            <a:br>
              <a:rPr lang="ko-KR" altLang="en-US" sz="2400" dirty="0">
                <a:solidFill>
                  <a:srgbClr val="0F172A"/>
                </a:solidFill>
              </a:rPr>
            </a:br>
            <a:r>
              <a:rPr lang="en-US" altLang="ko-KR" sz="2400" b="1" dirty="0">
                <a:solidFill>
                  <a:srgbClr val="0F172A"/>
                </a:solidFill>
              </a:rPr>
              <a:t>GCP Cloud Run:</a:t>
            </a:r>
            <a:r>
              <a:rPr lang="ko-KR" altLang="en-US" sz="2400" dirty="0">
                <a:solidFill>
                  <a:srgbClr val="0F172A"/>
                </a:solidFill>
              </a:rPr>
              <a:t> 서버 관리 부담 없이 실제 접속 가능한 서비스 </a:t>
            </a:r>
            <a:r>
              <a:rPr lang="en-US" altLang="ko-KR" sz="2400" dirty="0">
                <a:solidFill>
                  <a:srgbClr val="0F172A"/>
                </a:solidFill>
              </a:rPr>
              <a:t>URL </a:t>
            </a:r>
            <a:r>
              <a:rPr lang="ko-KR" altLang="en-US" sz="2400" dirty="0">
                <a:solidFill>
                  <a:srgbClr val="0F172A"/>
                </a:solidFill>
              </a:rPr>
              <a:t>즉시 확보</a:t>
            </a:r>
            <a:endParaRPr lang="en-US" altLang="ko-KR" sz="2400" b="1" dirty="0" smtClean="0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6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  <a:solidFill>
            <a:srgbClr val="0F172A"/>
          </a:solidFill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04.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핵심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기능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구현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396762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- AI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지식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검색</a:t>
            </a: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953000"/>
            <a:ext cx="17900464" cy="58391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04.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핵심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기능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구현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39725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- AI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회의록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생성</a:t>
            </a: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419600"/>
            <a:ext cx="17068800" cy="800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04.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핵심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기능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구현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19754" y="3390900"/>
            <a:ext cx="21130846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- AI </a:t>
            </a:r>
            <a:r>
              <a:rPr lang="en-US" sz="3999" b="1" i="0" u="none" strike="noStrike" dirty="0" err="1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보고서</a:t>
            </a:r>
            <a:r>
              <a:rPr lang="en-US" sz="3999" b="1" i="0" u="none" strike="noStrike" dirty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sz="3999" b="1" i="0" u="none" strike="noStrike" dirty="0" err="1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생성</a:t>
            </a:r>
            <a:r>
              <a:rPr lang="en-US" sz="3999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ko-KR" altLang="en-US" sz="2000" dirty="0">
                <a:solidFill>
                  <a:srgbClr val="E2E8F0"/>
                </a:solidFill>
              </a:rPr>
              <a:t>사용자가 입력한 주제와 요청사항을 바탕으로 </a:t>
            </a:r>
            <a:r>
              <a:rPr lang="ko-KR" altLang="en-US" sz="2000" dirty="0" smtClean="0">
                <a:solidFill>
                  <a:srgbClr val="E2E8F0"/>
                </a:solidFill>
              </a:rPr>
              <a:t>구조화된 보고서 초안을 </a:t>
            </a:r>
            <a:r>
              <a:rPr lang="ko-KR" altLang="en-US" sz="2000" dirty="0">
                <a:solidFill>
                  <a:srgbClr val="E2E8F0"/>
                </a:solidFill>
              </a:rPr>
              <a:t>생성</a:t>
            </a:r>
            <a:endParaRPr lang="en-US" sz="2000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4150946"/>
            <a:ext cx="17181995" cy="84220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05.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개발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 smtClean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과정</a:t>
            </a:r>
            <a:r>
              <a:rPr lang="en-US" sz="7998" b="0" i="0" u="none" strike="noStrike" dirty="0" smtClean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트러블슈팅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9370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en-US" sz="3999" b="1" i="0" u="none" strike="noStrike" dirty="0">
              <a:solidFill>
                <a:srgbClr val="FFFFFF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43200" y="35687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43200" y="7620000"/>
            <a:ext cx="200406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이수빈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: </a:t>
            </a:r>
            <a:r>
              <a:rPr lang="ko-KR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로컬 환경 테스트 중 빈번한 500 에러 발생으로 정상 검증 불가</a:t>
            </a:r>
            <a:r>
              <a:rPr lang="en-US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문제</a:t>
            </a:r>
            <a:r>
              <a:rPr lang="en-US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) -&gt;</a:t>
            </a:r>
            <a:r>
              <a:rPr lang="ko-KR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개인 PC 환경 내 </a:t>
            </a:r>
            <a:r>
              <a:rPr lang="ko-KR" altLang="ko-KR" sz="2600" dirty="0" err="1" smtClean="0">
                <a:solidFill>
                  <a:srgbClr val="E2E8F0"/>
                </a:solidFill>
                <a:latin typeface="Arial" panose="020B0604020202020204" pitchFamily="34" charset="0"/>
              </a:rPr>
              <a:t>Docker</a:t>
            </a:r>
            <a:r>
              <a:rPr lang="ko-KR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 구동 불능</a:t>
            </a:r>
            <a:r>
              <a:rPr lang="en-US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원인</a:t>
            </a:r>
            <a:r>
              <a:rPr lang="en-US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-&gt;</a:t>
            </a:r>
            <a:r>
              <a:rPr lang="ko-KR" altLang="ko-KR" sz="2600" dirty="0" err="1" smtClean="0">
                <a:solidFill>
                  <a:srgbClr val="E2E8F0"/>
                </a:solidFill>
                <a:latin typeface="Arial" panose="020B0604020202020204" pitchFamily="34" charset="0"/>
              </a:rPr>
              <a:t>도커</a:t>
            </a:r>
            <a:r>
              <a:rPr lang="ko-KR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 </a:t>
            </a:r>
            <a:r>
              <a:rPr lang="ko-KR" altLang="ko-KR" sz="2600" dirty="0">
                <a:solidFill>
                  <a:srgbClr val="E2E8F0"/>
                </a:solidFill>
                <a:latin typeface="Arial" panose="020B0604020202020204" pitchFamily="34" charset="0"/>
              </a:rPr>
              <a:t>미사용 기능 우선 테스트 진행 및 팀 내 </a:t>
            </a:r>
            <a:r>
              <a:rPr lang="ko-KR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상황</a:t>
            </a:r>
            <a:r>
              <a:rPr lang="ko-KR" altLang="en-US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보고</a:t>
            </a:r>
            <a:r>
              <a:rPr lang="en-US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협업 요청</a:t>
            </a:r>
            <a:r>
              <a:rPr lang="en-US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해결</a:t>
            </a:r>
            <a:r>
              <a:rPr lang="en-US" altLang="ko-KR" sz="2600" dirty="0" smtClean="0">
                <a:solidFill>
                  <a:srgbClr val="E2E8F0"/>
                </a:solidFill>
                <a:latin typeface="Arial" panose="020B0604020202020204" pitchFamily="34" charset="0"/>
              </a:rPr>
              <a:t>) -&gt; </a:t>
            </a:r>
            <a:r>
              <a:rPr lang="ko-KR" altLang="en-US" sz="2600" dirty="0">
                <a:solidFill>
                  <a:srgbClr val="E2E8F0"/>
                </a:solidFill>
              </a:rPr>
              <a:t>이슈 발생 시 혼자 고민하기보다 신속한 공유와 협업을 통한 해결의 중요성 </a:t>
            </a:r>
            <a:r>
              <a:rPr lang="ko-KR" altLang="en-US" sz="2600" dirty="0" smtClean="0">
                <a:solidFill>
                  <a:srgbClr val="E2E8F0"/>
                </a:solidFill>
              </a:rPr>
              <a:t>체감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결과</a:t>
            </a:r>
            <a:r>
              <a:rPr lang="en-US" altLang="ko-KR" sz="2600" dirty="0" smtClean="0">
                <a:solidFill>
                  <a:srgbClr val="E2E8F0"/>
                </a:solidFill>
              </a:rPr>
              <a:t>)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</a:p>
          <a:p>
            <a:pPr marL="0" lvl="1">
              <a:lnSpc>
                <a:spcPct val="124499"/>
              </a:lnSpc>
            </a:pPr>
            <a:r>
              <a:rPr lang="ko-KR" altLang="en-US" sz="2600" b="1" i="0" u="none" strike="noStrike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김가연</a:t>
            </a:r>
            <a:r>
              <a:rPr lang="en-US" altLang="ko-KR" sz="2600" b="0" i="0" u="none" strike="noStrike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: </a:t>
            </a:r>
            <a:r>
              <a:rPr lang="en-US" altLang="ko-KR" sz="2600" dirty="0">
                <a:solidFill>
                  <a:srgbClr val="E2E8F0"/>
                </a:solidFill>
              </a:rPr>
              <a:t>RAG </a:t>
            </a:r>
            <a:r>
              <a:rPr lang="ko-KR" altLang="en-US" sz="2600" dirty="0">
                <a:solidFill>
                  <a:srgbClr val="E2E8F0"/>
                </a:solidFill>
              </a:rPr>
              <a:t>검색 성능 테스트 중 관련 정보가 문서에 있음에도 일부 비교</a:t>
            </a:r>
            <a:r>
              <a:rPr lang="en-US" altLang="ko-KR" sz="2600" dirty="0">
                <a:solidFill>
                  <a:srgbClr val="E2E8F0"/>
                </a:solidFill>
              </a:rPr>
              <a:t>·</a:t>
            </a:r>
            <a:r>
              <a:rPr lang="ko-KR" altLang="en-US" sz="2600" dirty="0">
                <a:solidFill>
                  <a:srgbClr val="E2E8F0"/>
                </a:solidFill>
              </a:rPr>
              <a:t>정의형 질문에서 정확한 근거가 누락되거나 유사 지표 수치로 인한 오답 </a:t>
            </a:r>
            <a:r>
              <a:rPr lang="ko-KR" altLang="en-US" sz="2600" dirty="0" smtClean="0">
                <a:solidFill>
                  <a:srgbClr val="E2E8F0"/>
                </a:solidFill>
              </a:rPr>
              <a:t>생성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문제</a:t>
            </a:r>
            <a:r>
              <a:rPr lang="en-US" altLang="ko-KR" sz="2600" dirty="0" smtClean="0">
                <a:solidFill>
                  <a:srgbClr val="E2E8F0"/>
                </a:solidFill>
              </a:rPr>
              <a:t>) -&gt;</a:t>
            </a:r>
            <a:r>
              <a:rPr lang="ko-KR" altLang="en-US" sz="2600" dirty="0">
                <a:solidFill>
                  <a:srgbClr val="E2E8F0"/>
                </a:solidFill>
              </a:rPr>
              <a:t> </a:t>
            </a:r>
            <a:r>
              <a:rPr lang="en-US" altLang="ko-KR" sz="2600" dirty="0">
                <a:solidFill>
                  <a:srgbClr val="E2E8F0"/>
                </a:solidFill>
              </a:rPr>
              <a:t>Vector Search </a:t>
            </a:r>
            <a:r>
              <a:rPr lang="ko-KR" altLang="en-US" sz="2600" dirty="0">
                <a:solidFill>
                  <a:srgbClr val="E2E8F0"/>
                </a:solidFill>
              </a:rPr>
              <a:t>과정에서 정답 </a:t>
            </a:r>
            <a:r>
              <a:rPr lang="en-US" altLang="ko-KR" sz="2600" dirty="0">
                <a:solidFill>
                  <a:srgbClr val="E2E8F0"/>
                </a:solidFill>
              </a:rPr>
              <a:t>Chunk</a:t>
            </a:r>
            <a:r>
              <a:rPr lang="ko-KR" altLang="en-US" sz="2600" dirty="0">
                <a:solidFill>
                  <a:srgbClr val="E2E8F0"/>
                </a:solidFill>
              </a:rPr>
              <a:t>가 누락되거나</a:t>
            </a:r>
            <a:r>
              <a:rPr lang="en-US" altLang="ko-KR" sz="2600" dirty="0">
                <a:solidFill>
                  <a:srgbClr val="E2E8F0"/>
                </a:solidFill>
              </a:rPr>
              <a:t>, </a:t>
            </a:r>
            <a:r>
              <a:rPr lang="ko-KR" altLang="en-US" sz="2600" dirty="0">
                <a:solidFill>
                  <a:srgbClr val="E2E8F0"/>
                </a:solidFill>
              </a:rPr>
              <a:t>관련 </a:t>
            </a:r>
            <a:r>
              <a:rPr lang="en-US" altLang="ko-KR" sz="2600" dirty="0">
                <a:solidFill>
                  <a:srgbClr val="E2E8F0"/>
                </a:solidFill>
              </a:rPr>
              <a:t>Chunk</a:t>
            </a:r>
            <a:r>
              <a:rPr lang="ko-KR" altLang="en-US" sz="2600" dirty="0">
                <a:solidFill>
                  <a:srgbClr val="E2E8F0"/>
                </a:solidFill>
              </a:rPr>
              <a:t>와 동일한 페이지에 존재하는 핵심 정보가 최종 </a:t>
            </a:r>
            <a:r>
              <a:rPr lang="en-US" altLang="ko-KR" sz="2600" dirty="0">
                <a:solidFill>
                  <a:srgbClr val="E2E8F0"/>
                </a:solidFill>
              </a:rPr>
              <a:t>Context</a:t>
            </a:r>
            <a:r>
              <a:rPr lang="ko-KR" altLang="en-US" sz="2600" dirty="0">
                <a:solidFill>
                  <a:srgbClr val="E2E8F0"/>
                </a:solidFill>
              </a:rPr>
              <a:t>에 포함되지 </a:t>
            </a:r>
            <a:r>
              <a:rPr lang="ko-KR" altLang="en-US" sz="2600" dirty="0" smtClean="0">
                <a:solidFill>
                  <a:srgbClr val="E2E8F0"/>
                </a:solidFill>
              </a:rPr>
              <a:t>않음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원인</a:t>
            </a:r>
            <a:r>
              <a:rPr lang="en-US" altLang="ko-KR" sz="2600" dirty="0" smtClean="0">
                <a:solidFill>
                  <a:srgbClr val="E2E8F0"/>
                </a:solidFill>
              </a:rPr>
              <a:t>) -&gt;</a:t>
            </a:r>
            <a:r>
              <a:rPr lang="ko-KR" altLang="en-US" sz="2600" dirty="0">
                <a:solidFill>
                  <a:srgbClr val="E2E8F0"/>
                </a:solidFill>
              </a:rPr>
              <a:t> 기존 </a:t>
            </a:r>
            <a:r>
              <a:rPr lang="en-US" altLang="ko-KR" sz="2600" dirty="0">
                <a:solidFill>
                  <a:srgbClr val="E2E8F0"/>
                </a:solidFill>
              </a:rPr>
              <a:t>Vector Search</a:t>
            </a:r>
            <a:r>
              <a:rPr lang="ko-KR" altLang="en-US" sz="2600" dirty="0">
                <a:solidFill>
                  <a:srgbClr val="E2E8F0"/>
                </a:solidFill>
              </a:rPr>
              <a:t>에 </a:t>
            </a:r>
            <a:r>
              <a:rPr lang="en-US" altLang="ko-KR" sz="2600" dirty="0">
                <a:solidFill>
                  <a:srgbClr val="E2E8F0"/>
                </a:solidFill>
              </a:rPr>
              <a:t>Keyword Search</a:t>
            </a:r>
            <a:r>
              <a:rPr lang="ko-KR" altLang="en-US" sz="2600" dirty="0">
                <a:solidFill>
                  <a:srgbClr val="E2E8F0"/>
                </a:solidFill>
              </a:rPr>
              <a:t>를 결합한 </a:t>
            </a:r>
            <a:r>
              <a:rPr lang="en-US" altLang="ko-KR" sz="2600" dirty="0">
                <a:solidFill>
                  <a:srgbClr val="E2E8F0"/>
                </a:solidFill>
              </a:rPr>
              <a:t>Hybrid Retrieval</a:t>
            </a:r>
            <a:r>
              <a:rPr lang="ko-KR" altLang="en-US" sz="2600" dirty="0">
                <a:solidFill>
                  <a:srgbClr val="E2E8F0"/>
                </a:solidFill>
              </a:rPr>
              <a:t>을 적용하고</a:t>
            </a:r>
            <a:r>
              <a:rPr lang="en-US" altLang="ko-KR" sz="2600" dirty="0">
                <a:solidFill>
                  <a:srgbClr val="E2E8F0"/>
                </a:solidFill>
              </a:rPr>
              <a:t>, Source </a:t>
            </a:r>
            <a:r>
              <a:rPr lang="ko-KR" altLang="en-US" sz="2600" dirty="0">
                <a:solidFill>
                  <a:srgbClr val="E2E8F0"/>
                </a:solidFill>
              </a:rPr>
              <a:t>및 </a:t>
            </a:r>
            <a:r>
              <a:rPr lang="en-US" altLang="ko-KR" sz="2600" dirty="0">
                <a:solidFill>
                  <a:srgbClr val="E2E8F0"/>
                </a:solidFill>
              </a:rPr>
              <a:t>Page Metadata</a:t>
            </a:r>
            <a:r>
              <a:rPr lang="ko-KR" altLang="en-US" sz="2600" dirty="0">
                <a:solidFill>
                  <a:srgbClr val="E2E8F0"/>
                </a:solidFill>
              </a:rPr>
              <a:t>를 활용해 동일 페이지의 </a:t>
            </a:r>
            <a:r>
              <a:rPr lang="en-US" altLang="ko-KR" sz="2600" dirty="0">
                <a:solidFill>
                  <a:srgbClr val="E2E8F0"/>
                </a:solidFill>
              </a:rPr>
              <a:t>Chunk</a:t>
            </a:r>
            <a:r>
              <a:rPr lang="ko-KR" altLang="en-US" sz="2600" dirty="0">
                <a:solidFill>
                  <a:srgbClr val="E2E8F0"/>
                </a:solidFill>
              </a:rPr>
              <a:t>를 추가 조회한 뒤 연관도 기준 </a:t>
            </a:r>
            <a:r>
              <a:rPr lang="en-US" altLang="ko-KR" sz="2600" dirty="0" err="1">
                <a:solidFill>
                  <a:srgbClr val="E2E8F0"/>
                </a:solidFill>
              </a:rPr>
              <a:t>Reranking</a:t>
            </a:r>
            <a:r>
              <a:rPr lang="en-US" altLang="ko-KR" sz="2600" dirty="0">
                <a:solidFill>
                  <a:srgbClr val="E2E8F0"/>
                </a:solidFill>
              </a:rPr>
              <a:t> </a:t>
            </a:r>
            <a:r>
              <a:rPr lang="ko-KR" altLang="en-US" sz="2600" dirty="0" smtClean="0">
                <a:solidFill>
                  <a:srgbClr val="E2E8F0"/>
                </a:solidFill>
              </a:rPr>
              <a:t>수행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해결</a:t>
            </a:r>
            <a:r>
              <a:rPr lang="en-US" altLang="ko-KR" sz="2600" dirty="0" smtClean="0">
                <a:solidFill>
                  <a:srgbClr val="E2E8F0"/>
                </a:solidFill>
              </a:rPr>
              <a:t>) -&gt;</a:t>
            </a:r>
            <a:r>
              <a:rPr lang="ko-KR" altLang="en-US" sz="2600" dirty="0">
                <a:solidFill>
                  <a:srgbClr val="E2E8F0"/>
                </a:solidFill>
              </a:rPr>
              <a:t> 기존 오답 질문</a:t>
            </a:r>
            <a:r>
              <a:rPr lang="en-US" altLang="ko-KR" sz="2600" dirty="0">
                <a:solidFill>
                  <a:srgbClr val="E2E8F0"/>
                </a:solidFill>
              </a:rPr>
              <a:t>(</a:t>
            </a:r>
            <a:r>
              <a:rPr lang="ko-KR" altLang="en-US" sz="2600" dirty="0">
                <a:solidFill>
                  <a:srgbClr val="E2E8F0"/>
                </a:solidFill>
              </a:rPr>
              <a:t>식수 정의</a:t>
            </a:r>
            <a:r>
              <a:rPr lang="en-US" altLang="ko-KR" sz="2600" dirty="0">
                <a:solidFill>
                  <a:srgbClr val="E2E8F0"/>
                </a:solidFill>
              </a:rPr>
              <a:t>, </a:t>
            </a:r>
            <a:r>
              <a:rPr lang="ko-KR" altLang="en-US" sz="2600" dirty="0">
                <a:solidFill>
                  <a:srgbClr val="E2E8F0"/>
                </a:solidFill>
              </a:rPr>
              <a:t>수혜자 및 수익</a:t>
            </a:r>
            <a:r>
              <a:rPr lang="en-US" altLang="ko-KR" sz="2600" dirty="0">
                <a:solidFill>
                  <a:srgbClr val="E2E8F0"/>
                </a:solidFill>
              </a:rPr>
              <a:t>·</a:t>
            </a:r>
            <a:r>
              <a:rPr lang="ko-KR" altLang="en-US" sz="2600" dirty="0">
                <a:solidFill>
                  <a:srgbClr val="E2E8F0"/>
                </a:solidFill>
              </a:rPr>
              <a:t>비용 비교 등</a:t>
            </a:r>
            <a:r>
              <a:rPr lang="en-US" altLang="ko-KR" sz="2600" dirty="0">
                <a:solidFill>
                  <a:srgbClr val="E2E8F0"/>
                </a:solidFill>
              </a:rPr>
              <a:t>)</a:t>
            </a:r>
            <a:r>
              <a:rPr lang="ko-KR" altLang="en-US" sz="2600" dirty="0">
                <a:solidFill>
                  <a:srgbClr val="E2E8F0"/>
                </a:solidFill>
              </a:rPr>
              <a:t>에서 정확한 근거와 수치를 도출하여 답변할 수 있게 되었으며</a:t>
            </a:r>
            <a:r>
              <a:rPr lang="en-US" altLang="ko-KR" sz="2600" dirty="0">
                <a:solidFill>
                  <a:srgbClr val="E2E8F0"/>
                </a:solidFill>
              </a:rPr>
              <a:t>, RAG </a:t>
            </a:r>
            <a:r>
              <a:rPr lang="ko-KR" altLang="en-US" sz="2600" dirty="0">
                <a:solidFill>
                  <a:srgbClr val="E2E8F0"/>
                </a:solidFill>
              </a:rPr>
              <a:t>검색 정확도와 답변 신뢰성 </a:t>
            </a:r>
            <a:r>
              <a:rPr lang="ko-KR" altLang="en-US" sz="2600" dirty="0" smtClean="0">
                <a:solidFill>
                  <a:srgbClr val="E2E8F0"/>
                </a:solidFill>
              </a:rPr>
              <a:t>향상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결과</a:t>
            </a:r>
            <a:r>
              <a:rPr lang="en-US" altLang="ko-KR" sz="2600" dirty="0" smtClean="0">
                <a:solidFill>
                  <a:srgbClr val="E2E8F0"/>
                </a:solidFill>
              </a:rPr>
              <a:t>)</a:t>
            </a:r>
            <a:endParaRPr lang="en-US" altLang="ko-KR" sz="2600" b="0" i="0" u="none" strike="noStrike" dirty="0" smtClean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marL="0" lvl="1">
              <a:lnSpc>
                <a:spcPct val="124499"/>
              </a:lnSpc>
            </a:pPr>
            <a:r>
              <a:rPr lang="ko-KR" altLang="en-US" sz="2600" b="1" dirty="0" err="1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유고은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: 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브라우저에서 </a:t>
            </a:r>
            <a:r>
              <a:rPr lang="en-US" altLang="ko-KR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[http://127.0.0.1:8000](http://127.0.0.1:8000) 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접속 시 </a:t>
            </a:r>
            <a:r>
              <a:rPr lang="en-US" altLang="ko-KR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Not Found 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메시지 </a:t>
            </a:r>
            <a:r>
              <a:rPr lang="ko-KR" altLang="en-US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출력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문제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) -&gt;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루트</a:t>
            </a:r>
            <a:r>
              <a:rPr lang="en-US" altLang="ko-KR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(/) 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경로에 별도 </a:t>
            </a:r>
            <a:r>
              <a:rPr lang="ko-KR" altLang="en-US" sz="2600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핸들러가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정의되지 않은 </a:t>
            </a:r>
            <a:r>
              <a:rPr lang="en-US" altLang="ko-KR" sz="2600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FastAPI</a:t>
            </a:r>
            <a:r>
              <a:rPr lang="en-US" altLang="ko-KR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기본 </a:t>
            </a:r>
            <a:r>
              <a:rPr lang="ko-KR" altLang="en-US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동작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원인</a:t>
            </a:r>
            <a:r>
              <a:rPr lang="en-US" altLang="ko-KR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) -&gt; /docs </a:t>
            </a:r>
            <a:r>
              <a:rPr lang="ko-KR" altLang="en-US" sz="2600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엔드포인트를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붙여 </a:t>
            </a:r>
            <a:r>
              <a:rPr lang="en-US" altLang="ko-KR" sz="2600" dirty="0" err="1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OpenAPI</a:t>
            </a:r>
            <a:r>
              <a:rPr lang="en-US" altLang="ko-KR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 (Swagger UI) </a:t>
            </a:r>
            <a:r>
              <a:rPr lang="ko-KR" altLang="en-US" sz="2600" dirty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문서 화면으로 정상 접속 </a:t>
            </a:r>
            <a:r>
              <a:rPr lang="ko-KR" altLang="en-US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확인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해결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)</a:t>
            </a:r>
          </a:p>
          <a:p>
            <a:pPr marL="0" lvl="1">
              <a:lnSpc>
                <a:spcPct val="124499"/>
              </a:lnSpc>
            </a:pPr>
            <a:r>
              <a:rPr lang="ko-KR" altLang="en-US" sz="2600" b="1" i="0" u="none" strike="noStrike" dirty="0" err="1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김은채</a:t>
            </a:r>
            <a:r>
              <a:rPr lang="en-US" altLang="ko-KR" sz="2600" b="0" i="0" u="none" strike="noStrike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: </a:t>
            </a:r>
            <a:r>
              <a:rPr lang="ko-KR" altLang="en-US" sz="2600" dirty="0">
                <a:solidFill>
                  <a:srgbClr val="E2E8F0"/>
                </a:solidFill>
              </a:rPr>
              <a:t>단순 정답 여부만으로는 </a:t>
            </a:r>
            <a:r>
              <a:rPr lang="en-US" altLang="ko-KR" sz="2600" dirty="0">
                <a:solidFill>
                  <a:srgbClr val="E2E8F0"/>
                </a:solidFill>
              </a:rPr>
              <a:t>RAG </a:t>
            </a:r>
            <a:r>
              <a:rPr lang="ko-KR" altLang="en-US" sz="2600" dirty="0">
                <a:solidFill>
                  <a:srgbClr val="E2E8F0"/>
                </a:solidFill>
              </a:rPr>
              <a:t>모델 간 성능 차이를 객관적으로 비교하기 </a:t>
            </a:r>
            <a:r>
              <a:rPr lang="ko-KR" altLang="en-US" sz="2600" dirty="0" smtClean="0">
                <a:solidFill>
                  <a:srgbClr val="E2E8F0"/>
                </a:solidFill>
              </a:rPr>
              <a:t>어려움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문제</a:t>
            </a:r>
            <a:r>
              <a:rPr lang="en-US" altLang="ko-KR" sz="2600" dirty="0" smtClean="0">
                <a:solidFill>
                  <a:srgbClr val="E2E8F0"/>
                </a:solidFill>
              </a:rPr>
              <a:t>) -&gt;</a:t>
            </a:r>
            <a:r>
              <a:rPr lang="ko-KR" altLang="en-US" sz="2600" dirty="0">
                <a:solidFill>
                  <a:srgbClr val="E2E8F0"/>
                </a:solidFill>
              </a:rPr>
              <a:t> 평가 항목별 명확한 기준과 점수 환산 방식의 부재로 인한 평가자 주관 개입 </a:t>
            </a:r>
            <a:r>
              <a:rPr lang="ko-KR" altLang="en-US" sz="2600" dirty="0" smtClean="0">
                <a:solidFill>
                  <a:srgbClr val="E2E8F0"/>
                </a:solidFill>
              </a:rPr>
              <a:t>가능성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원인</a:t>
            </a:r>
            <a:r>
              <a:rPr lang="en-US" altLang="ko-KR" sz="2600" dirty="0" smtClean="0">
                <a:solidFill>
                  <a:srgbClr val="E2E8F0"/>
                </a:solidFill>
              </a:rPr>
              <a:t>) -&gt; </a:t>
            </a:r>
            <a:r>
              <a:rPr lang="ko-KR" altLang="en-US" sz="2600" dirty="0">
                <a:solidFill>
                  <a:srgbClr val="E2E8F0"/>
                </a:solidFill>
              </a:rPr>
              <a:t>표현 변형 대응</a:t>
            </a:r>
            <a:r>
              <a:rPr lang="en-US" altLang="ko-KR" sz="2600" dirty="0">
                <a:solidFill>
                  <a:srgbClr val="E2E8F0"/>
                </a:solidFill>
              </a:rPr>
              <a:t>, </a:t>
            </a:r>
            <a:r>
              <a:rPr lang="ko-KR" altLang="en-US" sz="2600" dirty="0">
                <a:solidFill>
                  <a:srgbClr val="E2E8F0"/>
                </a:solidFill>
              </a:rPr>
              <a:t>검색 정확도</a:t>
            </a:r>
            <a:r>
              <a:rPr lang="en-US" altLang="ko-KR" sz="2600" dirty="0">
                <a:solidFill>
                  <a:srgbClr val="E2E8F0"/>
                </a:solidFill>
              </a:rPr>
              <a:t>, </a:t>
            </a:r>
            <a:r>
              <a:rPr lang="ko-KR" altLang="en-US" sz="2600" dirty="0">
                <a:solidFill>
                  <a:srgbClr val="E2E8F0"/>
                </a:solidFill>
              </a:rPr>
              <a:t>답변 품질</a:t>
            </a:r>
            <a:r>
              <a:rPr lang="en-US" altLang="ko-KR" sz="2600" dirty="0">
                <a:solidFill>
                  <a:srgbClr val="E2E8F0"/>
                </a:solidFill>
              </a:rPr>
              <a:t>, </a:t>
            </a:r>
            <a:r>
              <a:rPr lang="ko-KR" altLang="en-US" sz="2600" dirty="0">
                <a:solidFill>
                  <a:srgbClr val="E2E8F0"/>
                </a:solidFill>
              </a:rPr>
              <a:t>답변 불가 처리</a:t>
            </a:r>
            <a:r>
              <a:rPr lang="en-US" altLang="ko-KR" sz="2600" dirty="0">
                <a:solidFill>
                  <a:srgbClr val="E2E8F0"/>
                </a:solidFill>
              </a:rPr>
              <a:t>, </a:t>
            </a:r>
            <a:r>
              <a:rPr lang="ko-KR" altLang="en-US" sz="2600" dirty="0">
                <a:solidFill>
                  <a:srgbClr val="E2E8F0"/>
                </a:solidFill>
              </a:rPr>
              <a:t>응답 시간 등으로 평가 항목을 세분화하고 총 </a:t>
            </a:r>
            <a:r>
              <a:rPr lang="en-US" altLang="ko-KR" sz="2600" dirty="0">
                <a:solidFill>
                  <a:srgbClr val="E2E8F0"/>
                </a:solidFill>
              </a:rPr>
              <a:t>100</a:t>
            </a:r>
            <a:r>
              <a:rPr lang="ko-KR" altLang="en-US" sz="2600" dirty="0">
                <a:solidFill>
                  <a:srgbClr val="E2E8F0"/>
                </a:solidFill>
              </a:rPr>
              <a:t>점 만점의 정량 평가 체계 </a:t>
            </a:r>
            <a:r>
              <a:rPr lang="ko-KR" altLang="en-US" sz="2600" dirty="0" smtClean="0">
                <a:solidFill>
                  <a:srgbClr val="E2E8F0"/>
                </a:solidFill>
              </a:rPr>
              <a:t>구축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해결</a:t>
            </a:r>
            <a:r>
              <a:rPr lang="en-US" altLang="ko-KR" sz="2600" dirty="0" smtClean="0">
                <a:solidFill>
                  <a:srgbClr val="E2E8F0"/>
                </a:solidFill>
              </a:rPr>
              <a:t>) -&gt; </a:t>
            </a:r>
            <a:r>
              <a:rPr lang="en-US" altLang="ko-KR" sz="2600" dirty="0">
                <a:solidFill>
                  <a:srgbClr val="E2E8F0"/>
                </a:solidFill>
              </a:rPr>
              <a:t>RAG </a:t>
            </a:r>
            <a:r>
              <a:rPr lang="ko-KR" altLang="en-US" sz="2600" dirty="0">
                <a:solidFill>
                  <a:srgbClr val="E2E8F0"/>
                </a:solidFill>
              </a:rPr>
              <a:t>검색 및 답변 성능을 수치화하여 객관적인 근거를 바탕으로 최적의 모델 및 </a:t>
            </a:r>
            <a:r>
              <a:rPr lang="ko-KR" altLang="en-US" sz="2600" dirty="0" err="1">
                <a:solidFill>
                  <a:srgbClr val="E2E8F0"/>
                </a:solidFill>
              </a:rPr>
              <a:t>설정값</a:t>
            </a:r>
            <a:r>
              <a:rPr lang="ko-KR" altLang="en-US" sz="2600" dirty="0">
                <a:solidFill>
                  <a:srgbClr val="E2E8F0"/>
                </a:solidFill>
              </a:rPr>
              <a:t> 선정 </a:t>
            </a:r>
            <a:r>
              <a:rPr lang="ko-KR" altLang="en-US" sz="2600" dirty="0" smtClean="0">
                <a:solidFill>
                  <a:srgbClr val="E2E8F0"/>
                </a:solidFill>
              </a:rPr>
              <a:t>가능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결과</a:t>
            </a:r>
            <a:r>
              <a:rPr lang="en-US" altLang="ko-KR" sz="2600" dirty="0" smtClean="0">
                <a:solidFill>
                  <a:srgbClr val="E2E8F0"/>
                </a:solidFill>
              </a:rPr>
              <a:t>)</a:t>
            </a:r>
            <a:endParaRPr lang="en-US" altLang="ko-KR" sz="2600" b="0" i="0" u="none" strike="noStrike" dirty="0" smtClean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marL="0" lvl="1">
              <a:lnSpc>
                <a:spcPct val="124499"/>
              </a:lnSpc>
            </a:pPr>
            <a:r>
              <a:rPr lang="ko-KR" altLang="en-US" sz="2600" b="1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정예은</a:t>
            </a:r>
            <a:r>
              <a:rPr lang="en-US" altLang="ko-KR" sz="2600" dirty="0" smtClean="0">
                <a:solidFill>
                  <a:srgbClr val="E2E8F0"/>
                </a:solidFill>
                <a:latin typeface="THELuxGoR"/>
                <a:ea typeface="THELuxGoR"/>
                <a:cs typeface="THELuxGoR"/>
              </a:rPr>
              <a:t>: </a:t>
            </a:r>
            <a:r>
              <a:rPr lang="ko-KR" altLang="en-US" sz="2600" dirty="0" smtClean="0">
                <a:solidFill>
                  <a:srgbClr val="E2E8F0"/>
                </a:solidFill>
              </a:rPr>
              <a:t> </a:t>
            </a:r>
            <a:r>
              <a:rPr lang="en-US" altLang="ko-KR" sz="2600" dirty="0">
                <a:solidFill>
                  <a:srgbClr val="E2E8F0"/>
                </a:solidFill>
              </a:rPr>
              <a:t>Cloud Run </a:t>
            </a:r>
            <a:r>
              <a:rPr lang="ko-KR" altLang="en-US" sz="2600" dirty="0">
                <a:solidFill>
                  <a:srgbClr val="E2E8F0"/>
                </a:solidFill>
              </a:rPr>
              <a:t>배포 후 서비스는 정상 실행되었으나 </a:t>
            </a:r>
            <a:r>
              <a:rPr lang="en-US" altLang="ko-KR" sz="2600" dirty="0" err="1">
                <a:solidFill>
                  <a:srgbClr val="E2E8F0"/>
                </a:solidFill>
              </a:rPr>
              <a:t>OpenAI</a:t>
            </a:r>
            <a:r>
              <a:rPr lang="en-US" altLang="ko-KR" sz="2600" dirty="0">
                <a:solidFill>
                  <a:srgbClr val="E2E8F0"/>
                </a:solidFill>
              </a:rPr>
              <a:t> API</a:t>
            </a:r>
            <a:r>
              <a:rPr lang="ko-KR" altLang="en-US" sz="2600" dirty="0">
                <a:solidFill>
                  <a:srgbClr val="E2E8F0"/>
                </a:solidFill>
              </a:rPr>
              <a:t>를 사용하는 기능이 </a:t>
            </a:r>
            <a:r>
              <a:rPr lang="ko-KR" altLang="en-US" sz="2600" dirty="0" smtClean="0">
                <a:solidFill>
                  <a:srgbClr val="E2E8F0"/>
                </a:solidFill>
              </a:rPr>
              <a:t>동작하지 않음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문제</a:t>
            </a:r>
            <a:r>
              <a:rPr lang="en-US" altLang="ko-KR" sz="2600" dirty="0" smtClean="0">
                <a:solidFill>
                  <a:srgbClr val="E2E8F0"/>
                </a:solidFill>
              </a:rPr>
              <a:t>)</a:t>
            </a:r>
            <a:r>
              <a:rPr lang="ko-KR" altLang="en-US" sz="2600" dirty="0" smtClean="0">
                <a:solidFill>
                  <a:srgbClr val="E2E8F0"/>
                </a:solidFill>
              </a:rPr>
              <a:t> </a:t>
            </a:r>
            <a:r>
              <a:rPr lang="en-US" altLang="ko-KR" sz="2600" dirty="0" smtClean="0">
                <a:solidFill>
                  <a:srgbClr val="E2E8F0"/>
                </a:solidFill>
              </a:rPr>
              <a:t>-&gt;  </a:t>
            </a:r>
            <a:r>
              <a:rPr lang="ko-KR" altLang="en-US" sz="2600" dirty="0" smtClean="0">
                <a:solidFill>
                  <a:srgbClr val="E2E8F0"/>
                </a:solidFill>
              </a:rPr>
              <a:t>로컬 </a:t>
            </a:r>
            <a:r>
              <a:rPr lang="en-US" altLang="ko-KR" sz="2600" dirty="0" smtClean="0">
                <a:solidFill>
                  <a:srgbClr val="E2E8F0"/>
                </a:solidFill>
              </a:rPr>
              <a:t>.</a:t>
            </a:r>
            <a:r>
              <a:rPr lang="en-US" altLang="ko-KR" sz="2600" dirty="0" err="1" smtClean="0">
                <a:solidFill>
                  <a:srgbClr val="E2E8F0"/>
                </a:solidFill>
              </a:rPr>
              <a:t>env</a:t>
            </a:r>
            <a:r>
              <a:rPr lang="en-US" altLang="ko-KR" sz="2600" dirty="0" smtClean="0">
                <a:solidFill>
                  <a:srgbClr val="E2E8F0"/>
                </a:solidFill>
              </a:rPr>
              <a:t> </a:t>
            </a:r>
            <a:r>
              <a:rPr lang="ko-KR" altLang="en-US" sz="2600" dirty="0">
                <a:solidFill>
                  <a:srgbClr val="E2E8F0"/>
                </a:solidFill>
              </a:rPr>
              <a:t>파일에 저장된 </a:t>
            </a:r>
            <a:r>
              <a:rPr lang="en-US" altLang="ko-KR" sz="2600" dirty="0">
                <a:solidFill>
                  <a:srgbClr val="E2E8F0"/>
                </a:solidFill>
              </a:rPr>
              <a:t>API Key</a:t>
            </a:r>
            <a:r>
              <a:rPr lang="ko-KR" altLang="en-US" sz="2600" dirty="0">
                <a:solidFill>
                  <a:srgbClr val="E2E8F0"/>
                </a:solidFill>
              </a:rPr>
              <a:t>가 </a:t>
            </a:r>
            <a:r>
              <a:rPr lang="en-US" altLang="ko-KR" sz="2600" dirty="0">
                <a:solidFill>
                  <a:srgbClr val="E2E8F0"/>
                </a:solidFill>
              </a:rPr>
              <a:t>Cloud Run </a:t>
            </a:r>
            <a:r>
              <a:rPr lang="ko-KR" altLang="en-US" sz="2600" dirty="0">
                <a:solidFill>
                  <a:srgbClr val="E2E8F0"/>
                </a:solidFill>
              </a:rPr>
              <a:t>환경에 자동으로 적용되지 </a:t>
            </a:r>
            <a:r>
              <a:rPr lang="ko-KR" altLang="en-US" sz="2600" dirty="0" smtClean="0">
                <a:solidFill>
                  <a:srgbClr val="E2E8F0"/>
                </a:solidFill>
              </a:rPr>
              <a:t>않음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원인</a:t>
            </a:r>
            <a:r>
              <a:rPr lang="en-US" altLang="ko-KR" sz="2600" dirty="0" smtClean="0">
                <a:solidFill>
                  <a:srgbClr val="E2E8F0"/>
                </a:solidFill>
              </a:rPr>
              <a:t>) </a:t>
            </a:r>
            <a:r>
              <a:rPr lang="en-US" altLang="ko-KR" sz="2600" dirty="0" smtClean="0">
                <a:solidFill>
                  <a:srgbClr val="E2E8F0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2600" dirty="0">
                <a:solidFill>
                  <a:srgbClr val="E2E8F0"/>
                </a:solidFill>
              </a:rPr>
              <a:t>API Key</a:t>
            </a:r>
            <a:r>
              <a:rPr lang="ko-KR" altLang="en-US" sz="2600" dirty="0">
                <a:solidFill>
                  <a:srgbClr val="E2E8F0"/>
                </a:solidFill>
              </a:rPr>
              <a:t>를 코드나 배포 파일에 포함하지 않고 </a:t>
            </a:r>
            <a:r>
              <a:rPr lang="en-US" altLang="ko-KR" sz="2600" dirty="0">
                <a:solidFill>
                  <a:srgbClr val="E2E8F0"/>
                </a:solidFill>
              </a:rPr>
              <a:t>GCP Cloud Run </a:t>
            </a:r>
            <a:r>
              <a:rPr lang="ko-KR" altLang="en-US" sz="2600" dirty="0" err="1">
                <a:solidFill>
                  <a:srgbClr val="E2E8F0"/>
                </a:solidFill>
              </a:rPr>
              <a:t>환경변수로</a:t>
            </a:r>
            <a:r>
              <a:rPr lang="ko-KR" altLang="en-US" sz="2600" dirty="0">
                <a:solidFill>
                  <a:srgbClr val="E2E8F0"/>
                </a:solidFill>
              </a:rPr>
              <a:t> 별도 </a:t>
            </a:r>
            <a:r>
              <a:rPr lang="ko-KR" altLang="en-US" sz="2600" dirty="0" smtClean="0">
                <a:solidFill>
                  <a:srgbClr val="E2E8F0"/>
                </a:solidFill>
              </a:rPr>
              <a:t>등록</a:t>
            </a:r>
            <a:r>
              <a:rPr lang="en-US" altLang="ko-KR" sz="2600" dirty="0" smtClean="0">
                <a:solidFill>
                  <a:srgbClr val="E2E8F0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  <a:sym typeface="Wingdings" panose="05000000000000000000" pitchFamily="2" charset="2"/>
              </a:rPr>
              <a:t>해결</a:t>
            </a:r>
            <a:r>
              <a:rPr lang="en-US" altLang="ko-KR" sz="2600" dirty="0" smtClean="0">
                <a:solidFill>
                  <a:srgbClr val="E2E8F0"/>
                </a:solidFill>
                <a:sym typeface="Wingdings" panose="05000000000000000000" pitchFamily="2" charset="2"/>
              </a:rPr>
              <a:t>) -&gt; </a:t>
            </a:r>
            <a:r>
              <a:rPr lang="ko-KR" altLang="en-US" sz="2600" dirty="0">
                <a:solidFill>
                  <a:srgbClr val="E2E8F0"/>
                </a:solidFill>
              </a:rPr>
              <a:t>로컬과 </a:t>
            </a:r>
            <a:r>
              <a:rPr lang="ko-KR" altLang="en-US" sz="2600" dirty="0" err="1">
                <a:solidFill>
                  <a:srgbClr val="E2E8F0"/>
                </a:solidFill>
              </a:rPr>
              <a:t>클라우드</a:t>
            </a:r>
            <a:r>
              <a:rPr lang="ko-KR" altLang="en-US" sz="2600" dirty="0">
                <a:solidFill>
                  <a:srgbClr val="E2E8F0"/>
                </a:solidFill>
              </a:rPr>
              <a:t> 환경 간 </a:t>
            </a:r>
            <a:r>
              <a:rPr lang="ko-KR" altLang="en-US" sz="2600" dirty="0" err="1">
                <a:solidFill>
                  <a:srgbClr val="E2E8F0"/>
                </a:solidFill>
              </a:rPr>
              <a:t>설정값을</a:t>
            </a:r>
            <a:r>
              <a:rPr lang="ko-KR" altLang="en-US" sz="2600" dirty="0">
                <a:solidFill>
                  <a:srgbClr val="E2E8F0"/>
                </a:solidFill>
              </a:rPr>
              <a:t> 분리</a:t>
            </a:r>
            <a:r>
              <a:rPr lang="en-US" altLang="ko-KR" sz="2600" dirty="0">
                <a:solidFill>
                  <a:srgbClr val="E2E8F0"/>
                </a:solidFill>
              </a:rPr>
              <a:t>·</a:t>
            </a:r>
            <a:r>
              <a:rPr lang="ko-KR" altLang="en-US" sz="2600" dirty="0">
                <a:solidFill>
                  <a:srgbClr val="E2E8F0"/>
                </a:solidFill>
              </a:rPr>
              <a:t>관리하여 </a:t>
            </a:r>
            <a:r>
              <a:rPr lang="ko-KR" altLang="en-US" sz="2600" dirty="0" err="1">
                <a:solidFill>
                  <a:srgbClr val="E2E8F0"/>
                </a:solidFill>
              </a:rPr>
              <a:t>보안성을</a:t>
            </a:r>
            <a:r>
              <a:rPr lang="ko-KR" altLang="en-US" sz="2600" dirty="0">
                <a:solidFill>
                  <a:srgbClr val="E2E8F0"/>
                </a:solidFill>
              </a:rPr>
              <a:t> 높이고 기능 정상 동작 </a:t>
            </a:r>
            <a:r>
              <a:rPr lang="ko-KR" altLang="en-US" sz="2600" dirty="0" smtClean="0">
                <a:solidFill>
                  <a:srgbClr val="E2E8F0"/>
                </a:solidFill>
              </a:rPr>
              <a:t>확보</a:t>
            </a:r>
            <a:r>
              <a:rPr lang="en-US" altLang="ko-KR" sz="2600" dirty="0" smtClean="0">
                <a:solidFill>
                  <a:srgbClr val="E2E8F0"/>
                </a:solidFill>
              </a:rPr>
              <a:t>(</a:t>
            </a:r>
            <a:r>
              <a:rPr lang="ko-KR" altLang="en-US" sz="2600" dirty="0" smtClean="0">
                <a:solidFill>
                  <a:srgbClr val="E2E8F0"/>
                </a:solidFill>
              </a:rPr>
              <a:t>결과</a:t>
            </a:r>
            <a:r>
              <a:rPr lang="en-US" altLang="ko-KR" sz="2600" dirty="0" smtClean="0">
                <a:solidFill>
                  <a:srgbClr val="E2E8F0"/>
                </a:solidFill>
              </a:rPr>
              <a:t>)</a:t>
            </a:r>
            <a:endParaRPr lang="en-US" sz="2600" b="0" i="0" u="none" strike="noStrike" dirty="0">
              <a:solidFill>
                <a:srgbClr val="E2E8F0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06.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최종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결과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및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검증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9370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en-US" sz="3999" b="1" i="0" u="none" strike="noStrike" dirty="0">
              <a:solidFill>
                <a:srgbClr val="FFFFFF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43200" y="52070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en-US" sz="3999" b="1" i="0" u="none" strike="noStrike" dirty="0">
              <a:solidFill>
                <a:srgbClr val="FFFFFF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43200" y="7150100"/>
            <a:ext cx="149352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1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THELuxGoR"/>
                <a:ea typeface="THELuxGoR"/>
                <a:cs typeface="THELuxGoR"/>
              </a:rPr>
              <a:t> </a:t>
            </a: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3560625"/>
            <a:ext cx="16699523" cy="8707576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731477" y="12502119"/>
            <a:ext cx="10131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E2E8F0"/>
                </a:solidFill>
              </a:rPr>
              <a:t>[E2E </a:t>
            </a:r>
            <a:r>
              <a:rPr lang="ko-KR" altLang="en-US" dirty="0">
                <a:solidFill>
                  <a:srgbClr val="E2E8F0"/>
                </a:solidFill>
              </a:rPr>
              <a:t>검증 완료</a:t>
            </a:r>
            <a:r>
              <a:rPr lang="en-US" altLang="ko-KR" dirty="0">
                <a:solidFill>
                  <a:srgbClr val="E2E8F0"/>
                </a:solidFill>
              </a:rPr>
              <a:t>] </a:t>
            </a:r>
            <a:r>
              <a:rPr lang="en-US" altLang="ko-KR" dirty="0" err="1">
                <a:solidFill>
                  <a:srgbClr val="E2E8F0"/>
                </a:solidFill>
              </a:rPr>
              <a:t>FastAPI</a:t>
            </a:r>
            <a:r>
              <a:rPr lang="en-US" altLang="ko-KR" dirty="0">
                <a:solidFill>
                  <a:srgbClr val="E2E8F0"/>
                </a:solidFill>
              </a:rPr>
              <a:t> </a:t>
            </a:r>
            <a:r>
              <a:rPr lang="ko-KR" altLang="en-US" dirty="0" err="1">
                <a:solidFill>
                  <a:srgbClr val="E2E8F0"/>
                </a:solidFill>
              </a:rPr>
              <a:t>진입점</a:t>
            </a:r>
            <a:r>
              <a:rPr lang="ko-KR" altLang="en-US" dirty="0">
                <a:solidFill>
                  <a:srgbClr val="E2E8F0"/>
                </a:solidFill>
              </a:rPr>
              <a:t> </a:t>
            </a:r>
            <a:r>
              <a:rPr lang="en-US" altLang="ko-KR" dirty="0">
                <a:solidFill>
                  <a:srgbClr val="E2E8F0"/>
                </a:solidFill>
              </a:rPr>
              <a:t>· </a:t>
            </a:r>
            <a:r>
              <a:rPr lang="en-US" altLang="ko-KR" dirty="0" err="1">
                <a:solidFill>
                  <a:srgbClr val="E2E8F0"/>
                </a:solidFill>
              </a:rPr>
              <a:t>LangGraph</a:t>
            </a:r>
            <a:r>
              <a:rPr lang="en-US" altLang="ko-KR" dirty="0">
                <a:solidFill>
                  <a:srgbClr val="E2E8F0"/>
                </a:solidFill>
              </a:rPr>
              <a:t> Agent Routing &amp; Memory · </a:t>
            </a:r>
            <a:r>
              <a:rPr lang="en-US" altLang="ko-KR" dirty="0" err="1">
                <a:solidFill>
                  <a:srgbClr val="E2E8F0"/>
                </a:solidFill>
              </a:rPr>
              <a:t>Langfuse</a:t>
            </a:r>
            <a:r>
              <a:rPr lang="en-US" altLang="ko-KR" dirty="0">
                <a:solidFill>
                  <a:srgbClr val="E2E8F0"/>
                </a:solidFill>
              </a:rPr>
              <a:t> Trace </a:t>
            </a:r>
            <a:r>
              <a:rPr lang="ko-KR" altLang="en-US" dirty="0">
                <a:solidFill>
                  <a:srgbClr val="E2E8F0"/>
                </a:solidFill>
              </a:rPr>
              <a:t>실시간 연동 확인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 smtClean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06. </a:t>
            </a:r>
            <a:r>
              <a:rPr lang="ko-KR" altLang="en-US" sz="7998" b="0" i="0" u="none" strike="noStrike" dirty="0" smtClean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최종 결과 및 검증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95400" y="12006592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en-US" sz="3999" b="1" i="0" u="none" strike="noStrike" dirty="0">
              <a:solidFill>
                <a:srgbClr val="FFFFFF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43200" y="35687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4000" dirty="0">
                <a:solidFill>
                  <a:srgbClr val="E2E8F0"/>
                </a:solidFill>
              </a:rPr>
              <a:t>RAG </a:t>
            </a:r>
            <a:r>
              <a:rPr lang="ko-KR" altLang="en-US" sz="4000" dirty="0">
                <a:solidFill>
                  <a:srgbClr val="E2E8F0"/>
                </a:solidFill>
              </a:rPr>
              <a:t>정확성 및 최종 배포 결과</a:t>
            </a: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43200" y="7150100"/>
            <a:ext cx="149352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1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THELuxGoR"/>
                <a:ea typeface="THELuxGoR"/>
                <a:cs typeface="THELuxGoR"/>
              </a:rPr>
              <a:t> </a:t>
            </a: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524131"/>
            <a:ext cx="10703910" cy="671753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024" y="4483099"/>
            <a:ext cx="10742866" cy="6758561"/>
          </a:xfrm>
          <a:prstGeom prst="rect">
            <a:avLst/>
          </a:prstGeom>
        </p:spPr>
      </p:pic>
      <p:sp>
        <p:nvSpPr>
          <p:cNvPr id="9" name="TextBox 4"/>
          <p:cNvSpPr txBox="1"/>
          <p:nvPr/>
        </p:nvSpPr>
        <p:spPr>
          <a:xfrm>
            <a:off x="2895600" y="40894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endParaRPr lang="en-US" sz="3999" b="1" i="0" u="none" strike="noStrike" dirty="0">
              <a:solidFill>
                <a:srgbClr val="FFFFFF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33800" y="11658600"/>
            <a:ext cx="5410200" cy="7162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600" dirty="0" smtClean="0"/>
              <a:t>수정 전</a:t>
            </a:r>
            <a:endParaRPr lang="ko-KR" altLang="en-US" sz="2600" dirty="0"/>
          </a:p>
        </p:txBody>
      </p:sp>
      <p:sp>
        <p:nvSpPr>
          <p:cNvPr id="11" name="직사각형 10"/>
          <p:cNvSpPr/>
          <p:nvPr/>
        </p:nvSpPr>
        <p:spPr>
          <a:xfrm>
            <a:off x="15143357" y="11521550"/>
            <a:ext cx="5410200" cy="7162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600" dirty="0" smtClean="0"/>
              <a:t>수정 후</a:t>
            </a:r>
            <a:endParaRPr lang="ko-KR" altLang="en-US" sz="2600" dirty="0"/>
          </a:p>
        </p:txBody>
      </p:sp>
      <p:sp>
        <p:nvSpPr>
          <p:cNvPr id="12" name="직사각형 11"/>
          <p:cNvSpPr/>
          <p:nvPr/>
        </p:nvSpPr>
        <p:spPr>
          <a:xfrm>
            <a:off x="1066800" y="12351652"/>
            <a:ext cx="13716000" cy="5791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Hybrid Retrieval </a:t>
            </a:r>
            <a:r>
              <a:rPr lang="ko-KR" altLang="en-US" dirty="0"/>
              <a:t>및 </a:t>
            </a:r>
            <a:r>
              <a:rPr lang="en-US" altLang="ko-KR" dirty="0" err="1"/>
              <a:t>Reranking</a:t>
            </a:r>
            <a:r>
              <a:rPr lang="en-US" altLang="ko-KR" dirty="0"/>
              <a:t> </a:t>
            </a:r>
            <a:r>
              <a:rPr lang="ko-KR" altLang="en-US" dirty="0"/>
              <a:t>도입을 통해 </a:t>
            </a:r>
            <a:r>
              <a:rPr lang="en-US" altLang="ko-KR" dirty="0"/>
              <a:t>RAG </a:t>
            </a:r>
            <a:r>
              <a:rPr lang="ko-KR" altLang="en-US" dirty="0"/>
              <a:t>검색</a:t>
            </a:r>
            <a:r>
              <a:rPr lang="en-US" altLang="ko-KR" dirty="0"/>
              <a:t>·</a:t>
            </a:r>
            <a:r>
              <a:rPr lang="ko-KR" altLang="en-US" dirty="0"/>
              <a:t>답변 정확도 총점 </a:t>
            </a:r>
            <a:r>
              <a:rPr lang="en-US" altLang="ko-KR" dirty="0"/>
              <a:t>74.69</a:t>
            </a:r>
            <a:r>
              <a:rPr lang="ko-KR" altLang="en-US" dirty="0"/>
              <a:t>점 → </a:t>
            </a:r>
            <a:r>
              <a:rPr lang="en-US" altLang="ko-KR" dirty="0"/>
              <a:t>98.25</a:t>
            </a:r>
            <a:r>
              <a:rPr lang="ko-KR" altLang="en-US" dirty="0"/>
              <a:t>점으로 대폭 향상</a:t>
            </a:r>
          </a:p>
        </p:txBody>
      </p:sp>
    </p:spTree>
    <p:extLst>
      <p:ext uri="{BB962C8B-B14F-4D97-AF65-F5344CB8AC3E}">
        <p14:creationId xmlns:p14="http://schemas.microsoft.com/office/powerpoint/2010/main" val="273471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07.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서비스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시연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및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마무리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9370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4000" dirty="0">
                <a:solidFill>
                  <a:srgbClr val="E2E8F0"/>
                </a:solidFill>
              </a:rPr>
              <a:t>Live Demo (</a:t>
            </a:r>
            <a:r>
              <a:rPr lang="ko-KR" altLang="en-US" sz="4000" dirty="0">
                <a:solidFill>
                  <a:srgbClr val="E2E8F0"/>
                </a:solidFill>
              </a:rPr>
              <a:t>서비스 시연 순서</a:t>
            </a:r>
            <a:r>
              <a:rPr lang="en-US" altLang="ko-KR" sz="4000" dirty="0">
                <a:solidFill>
                  <a:srgbClr val="E2E8F0"/>
                </a:solidFill>
              </a:rPr>
              <a:t>)</a:t>
            </a: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13892" y="7542823"/>
            <a:ext cx="180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endParaRPr lang="en-US" sz="4000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  <a:p>
            <a:pPr lvl="0">
              <a:lnSpc>
                <a:spcPct val="116199"/>
              </a:lnSpc>
            </a:pPr>
            <a:r>
              <a:rPr lang="en-US" altLang="ko-KR" sz="4000" b="1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1. </a:t>
            </a:r>
            <a:r>
              <a:rPr lang="ko-KR" altLang="en-US" sz="4000" b="1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사내 지식 검색 시연</a:t>
            </a:r>
            <a:endParaRPr lang="en-US" altLang="ko-KR" sz="4000" b="1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 smtClean="0">
                <a:solidFill>
                  <a:srgbClr val="E2E8F0"/>
                </a:solidFill>
              </a:rPr>
              <a:t>내부 </a:t>
            </a:r>
            <a:r>
              <a:rPr lang="ko-KR" altLang="en-US" sz="3200" dirty="0">
                <a:solidFill>
                  <a:srgbClr val="E2E8F0"/>
                </a:solidFill>
              </a:rPr>
              <a:t>문서 기반 </a:t>
            </a:r>
            <a:r>
              <a:rPr lang="en-US" altLang="ko-KR" sz="3200" dirty="0">
                <a:solidFill>
                  <a:srgbClr val="E2E8F0"/>
                </a:solidFill>
              </a:rPr>
              <a:t>RAG </a:t>
            </a:r>
            <a:r>
              <a:rPr lang="ko-KR" altLang="en-US" sz="3200" dirty="0">
                <a:solidFill>
                  <a:srgbClr val="E2E8F0"/>
                </a:solidFill>
              </a:rPr>
              <a:t>질문 </a:t>
            </a:r>
            <a:r>
              <a:rPr lang="ko-KR" altLang="en-US" sz="3200" dirty="0" smtClean="0">
                <a:solidFill>
                  <a:srgbClr val="E2E8F0"/>
                </a:solidFill>
              </a:rPr>
              <a:t>입력</a:t>
            </a:r>
            <a:endParaRPr lang="en-US" altLang="ko-KR" sz="3200" dirty="0" smtClean="0">
              <a:solidFill>
                <a:srgbClr val="E2E8F0"/>
              </a:solidFill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E2E8F0"/>
                </a:solidFill>
              </a:rPr>
              <a:t>근거 기반 정확한 답변 </a:t>
            </a:r>
            <a:r>
              <a:rPr lang="ko-KR" altLang="en-US" sz="3200" dirty="0" smtClean="0">
                <a:solidFill>
                  <a:srgbClr val="E2E8F0"/>
                </a:solidFill>
              </a:rPr>
              <a:t>도출 확인</a:t>
            </a:r>
            <a:endParaRPr lang="en-US" sz="3200" b="1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  <a:p>
            <a:pPr lvl="0">
              <a:lnSpc>
                <a:spcPct val="116199"/>
              </a:lnSpc>
            </a:pPr>
            <a:r>
              <a:rPr lang="en-US" sz="3999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2. AI </a:t>
            </a:r>
            <a:r>
              <a:rPr lang="ko-KR" altLang="en-US" sz="3999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회의록 생성 시연</a:t>
            </a:r>
            <a:endParaRPr lang="en-US" altLang="ko-KR" sz="3999" b="1" i="0" u="none" strike="noStrike" dirty="0" smtClean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b="1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회의 음성 파일 업로드 및 텍스트 변환 확인</a:t>
            </a:r>
            <a:endParaRPr lang="en-US" altLang="ko-KR" sz="3200" b="1" dirty="0" smtClean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회의 요약</a:t>
            </a:r>
            <a:r>
              <a:rPr lang="en-US" altLang="ko-KR" sz="3200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, </a:t>
            </a:r>
            <a:r>
              <a:rPr lang="ko-KR" altLang="en-US" sz="3200" b="1" i="0" u="none" strike="noStrike" dirty="0" err="1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논의사항</a:t>
            </a:r>
            <a:r>
              <a:rPr lang="en-US" altLang="ko-KR" sz="3200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, </a:t>
            </a:r>
            <a:r>
              <a:rPr lang="ko-KR" altLang="en-US" sz="3200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결정사항 구조화 출력 화면 확인</a:t>
            </a:r>
            <a:endParaRPr lang="en-US" altLang="ko-KR" sz="3200" b="1" i="0" u="none" strike="noStrike" dirty="0" smtClean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  <a:p>
            <a:pPr lvl="0">
              <a:lnSpc>
                <a:spcPct val="116199"/>
              </a:lnSpc>
            </a:pPr>
            <a:r>
              <a:rPr lang="en-US" sz="3999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3. AI </a:t>
            </a:r>
            <a:r>
              <a:rPr lang="ko-KR" altLang="en-US" sz="3999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보고서 생성 시연</a:t>
            </a:r>
            <a:endParaRPr lang="en-US" altLang="ko-KR" sz="3999" b="1" i="0" u="none" strike="noStrike" dirty="0" smtClean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E2E8F0"/>
                </a:solidFill>
              </a:rPr>
              <a:t>보고서 주제 및 요청사항 </a:t>
            </a:r>
            <a:r>
              <a:rPr lang="ko-KR" altLang="en-US" sz="3200" dirty="0" smtClean="0">
                <a:solidFill>
                  <a:srgbClr val="E2E8F0"/>
                </a:solidFill>
              </a:rPr>
              <a:t>입력</a:t>
            </a:r>
            <a:endParaRPr lang="en-US" altLang="ko-KR" sz="3200" dirty="0" smtClean="0">
              <a:solidFill>
                <a:srgbClr val="E2E8F0"/>
              </a:solidFill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E2E8F0"/>
                </a:solidFill>
              </a:rPr>
              <a:t>구조화된 전문 보고서 초안 자동 생성 확인</a:t>
            </a:r>
            <a:endParaRPr lang="en-US" sz="3200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43200" y="7072923"/>
            <a:ext cx="149352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1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THELuxGoR"/>
                <a:ea typeface="THELuxGoR"/>
                <a:cs typeface="THELuxGoR"/>
              </a:rPr>
              <a:t> </a:t>
            </a: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43200" y="1943100"/>
            <a:ext cx="17475200" cy="144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07.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서비스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시연</a:t>
            </a:r>
            <a:r>
              <a:rPr lang="en-US" sz="7998" b="0" i="0" u="none" strike="noStrike" dirty="0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 및 </a:t>
            </a:r>
            <a:r>
              <a:rPr lang="en-US" sz="7998" b="0" i="0" u="none" strike="noStrike" dirty="0" err="1">
                <a:solidFill>
                  <a:srgbClr val="E2E8F0"/>
                </a:solidFill>
                <a:latin typeface="NanumGothicExtraBold"/>
                <a:ea typeface="NanumGothicExtraBold"/>
                <a:cs typeface="NanumGothicExtraBold"/>
              </a:rPr>
              <a:t>마무리</a:t>
            </a:r>
            <a:endParaRPr lang="en-US" sz="7998" b="0" i="0" u="none" strike="noStrike" dirty="0">
              <a:solidFill>
                <a:srgbClr val="E2E8F0"/>
              </a:solidFill>
              <a:latin typeface="NanumGothicExtraBold"/>
              <a:ea typeface="NanumGothicExtraBold"/>
              <a:cs typeface="NanumGothic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43200" y="3937000"/>
            <a:ext cx="10185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endParaRPr lang="en-US" sz="3999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43200" y="5053623"/>
            <a:ext cx="18059400" cy="73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endParaRPr lang="en-US" sz="4000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  <a:p>
            <a:pPr lvl="0">
              <a:lnSpc>
                <a:spcPct val="116199"/>
              </a:lnSpc>
            </a:pPr>
            <a:r>
              <a:rPr lang="ko-KR" altLang="en-US" sz="4000" dirty="0">
                <a:solidFill>
                  <a:srgbClr val="E2E8F0"/>
                </a:solidFill>
              </a:rPr>
              <a:t>주요 구현 </a:t>
            </a:r>
            <a:r>
              <a:rPr lang="ko-KR" altLang="en-US" sz="4000" dirty="0" smtClean="0">
                <a:solidFill>
                  <a:srgbClr val="E2E8F0"/>
                </a:solidFill>
              </a:rPr>
              <a:t>성과</a:t>
            </a:r>
            <a:endParaRPr lang="en-US" altLang="ko-KR" sz="4000" dirty="0" smtClean="0">
              <a:solidFill>
                <a:srgbClr val="E2E8F0"/>
              </a:solidFill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b="1" dirty="0">
                <a:solidFill>
                  <a:srgbClr val="E2E8F0"/>
                </a:solidFill>
              </a:rPr>
              <a:t>아키텍처 통합</a:t>
            </a:r>
            <a:r>
              <a:rPr lang="en-US" altLang="ko-KR" sz="3200" b="1" dirty="0">
                <a:solidFill>
                  <a:srgbClr val="E2E8F0"/>
                </a:solidFill>
              </a:rPr>
              <a:t>:</a:t>
            </a:r>
            <a:r>
              <a:rPr lang="ko-KR" altLang="en-US" sz="3200" dirty="0">
                <a:solidFill>
                  <a:srgbClr val="E2E8F0"/>
                </a:solidFill>
              </a:rPr>
              <a:t> </a:t>
            </a:r>
            <a:r>
              <a:rPr lang="en-US" altLang="ko-KR" sz="3200" dirty="0" err="1">
                <a:solidFill>
                  <a:srgbClr val="E2E8F0"/>
                </a:solidFill>
              </a:rPr>
              <a:t>FastAPI</a:t>
            </a:r>
            <a:r>
              <a:rPr lang="en-US" altLang="ko-KR" sz="3200" dirty="0">
                <a:solidFill>
                  <a:srgbClr val="E2E8F0"/>
                </a:solidFill>
              </a:rPr>
              <a:t> </a:t>
            </a:r>
            <a:r>
              <a:rPr lang="ko-KR" altLang="en-US" sz="3200" dirty="0" err="1">
                <a:solidFill>
                  <a:srgbClr val="E2E8F0"/>
                </a:solidFill>
              </a:rPr>
              <a:t>진입점</a:t>
            </a:r>
            <a:r>
              <a:rPr lang="ko-KR" altLang="en-US" sz="3200" dirty="0">
                <a:solidFill>
                  <a:srgbClr val="E2E8F0"/>
                </a:solidFill>
              </a:rPr>
              <a:t> 및 </a:t>
            </a:r>
            <a:r>
              <a:rPr lang="en-US" altLang="ko-KR" sz="3200" dirty="0" err="1">
                <a:solidFill>
                  <a:srgbClr val="E2E8F0"/>
                </a:solidFill>
              </a:rPr>
              <a:t>LangGraph</a:t>
            </a:r>
            <a:r>
              <a:rPr lang="en-US" altLang="ko-KR" sz="3200" dirty="0">
                <a:solidFill>
                  <a:srgbClr val="E2E8F0"/>
                </a:solidFill>
              </a:rPr>
              <a:t> </a:t>
            </a:r>
            <a:r>
              <a:rPr lang="ko-KR" altLang="en-US" sz="3200" dirty="0">
                <a:solidFill>
                  <a:srgbClr val="E2E8F0"/>
                </a:solidFill>
              </a:rPr>
              <a:t>기반 복수 </a:t>
            </a:r>
            <a:r>
              <a:rPr lang="en-US" altLang="ko-KR" sz="3200" dirty="0">
                <a:solidFill>
                  <a:srgbClr val="E2E8F0"/>
                </a:solidFill>
              </a:rPr>
              <a:t>AI Workflow </a:t>
            </a:r>
            <a:r>
              <a:rPr lang="ko-KR" altLang="en-US" sz="3200" dirty="0">
                <a:solidFill>
                  <a:srgbClr val="E2E8F0"/>
                </a:solidFill>
              </a:rPr>
              <a:t>유기적 연동 </a:t>
            </a:r>
            <a:r>
              <a:rPr lang="ko-KR" altLang="en-US" sz="3200" dirty="0" smtClean="0">
                <a:solidFill>
                  <a:srgbClr val="E2E8F0"/>
                </a:solidFill>
              </a:rPr>
              <a:t>완료</a:t>
            </a:r>
            <a:endParaRPr lang="en-US" altLang="ko-KR" sz="3200" dirty="0" smtClean="0">
              <a:solidFill>
                <a:srgbClr val="E2E8F0"/>
              </a:solidFill>
            </a:endParaRPr>
          </a:p>
          <a:p>
            <a:pPr lvl="0">
              <a:lnSpc>
                <a:spcPct val="116199"/>
              </a:lnSpc>
            </a:pPr>
            <a:r>
              <a:rPr lang="en-US" altLang="ko-KR" sz="3200" b="1" dirty="0">
                <a:solidFill>
                  <a:srgbClr val="E2E8F0"/>
                </a:solidFill>
              </a:rPr>
              <a:t>RAG </a:t>
            </a:r>
            <a:r>
              <a:rPr lang="ko-KR" altLang="en-US" sz="3200" b="1" dirty="0">
                <a:solidFill>
                  <a:srgbClr val="E2E8F0"/>
                </a:solidFill>
              </a:rPr>
              <a:t>성능 고도화</a:t>
            </a:r>
            <a:r>
              <a:rPr lang="en-US" altLang="ko-KR" sz="3200" b="1" dirty="0">
                <a:solidFill>
                  <a:srgbClr val="E2E8F0"/>
                </a:solidFill>
              </a:rPr>
              <a:t>:</a:t>
            </a:r>
            <a:r>
              <a:rPr lang="ko-KR" altLang="en-US" sz="3200" dirty="0">
                <a:solidFill>
                  <a:srgbClr val="E2E8F0"/>
                </a:solidFill>
              </a:rPr>
              <a:t> </a:t>
            </a:r>
            <a:r>
              <a:rPr lang="en-US" altLang="ko-KR" sz="3200" dirty="0">
                <a:solidFill>
                  <a:srgbClr val="E2E8F0"/>
                </a:solidFill>
              </a:rPr>
              <a:t>Hybrid Retrieval </a:t>
            </a:r>
            <a:r>
              <a:rPr lang="ko-KR" altLang="en-US" sz="3200" dirty="0">
                <a:solidFill>
                  <a:srgbClr val="E2E8F0"/>
                </a:solidFill>
              </a:rPr>
              <a:t>및 </a:t>
            </a:r>
            <a:r>
              <a:rPr lang="en-US" altLang="ko-KR" sz="3200" dirty="0" err="1">
                <a:solidFill>
                  <a:srgbClr val="E2E8F0"/>
                </a:solidFill>
              </a:rPr>
              <a:t>Reranking</a:t>
            </a:r>
            <a:r>
              <a:rPr lang="en-US" altLang="ko-KR" sz="3200" dirty="0">
                <a:solidFill>
                  <a:srgbClr val="E2E8F0"/>
                </a:solidFill>
              </a:rPr>
              <a:t> </a:t>
            </a:r>
            <a:r>
              <a:rPr lang="ko-KR" altLang="en-US" sz="3200" dirty="0">
                <a:solidFill>
                  <a:srgbClr val="E2E8F0"/>
                </a:solidFill>
              </a:rPr>
              <a:t>도입으로 </a:t>
            </a:r>
            <a:r>
              <a:rPr lang="ko-KR" altLang="en-US" sz="3200" dirty="0" err="1">
                <a:solidFill>
                  <a:srgbClr val="E2E8F0"/>
                </a:solidFill>
              </a:rPr>
              <a:t>정량평가</a:t>
            </a:r>
            <a:r>
              <a:rPr lang="ko-KR" altLang="en-US" sz="3200" dirty="0">
                <a:solidFill>
                  <a:srgbClr val="E2E8F0"/>
                </a:solidFill>
              </a:rPr>
              <a:t> 총점 </a:t>
            </a:r>
            <a:r>
              <a:rPr lang="en-US" altLang="ko-KR" sz="3200" b="1" dirty="0">
                <a:solidFill>
                  <a:srgbClr val="E2E8F0"/>
                </a:solidFill>
              </a:rPr>
              <a:t>74.69</a:t>
            </a:r>
            <a:r>
              <a:rPr lang="ko-KR" altLang="en-US" sz="3200" b="1" dirty="0">
                <a:solidFill>
                  <a:srgbClr val="E2E8F0"/>
                </a:solidFill>
              </a:rPr>
              <a:t>점 → </a:t>
            </a:r>
            <a:r>
              <a:rPr lang="en-US" altLang="ko-KR" sz="3200" b="1" dirty="0">
                <a:solidFill>
                  <a:srgbClr val="E2E8F0"/>
                </a:solidFill>
              </a:rPr>
              <a:t>98.25</a:t>
            </a:r>
            <a:r>
              <a:rPr lang="ko-KR" altLang="en-US" sz="3200" b="1" dirty="0">
                <a:solidFill>
                  <a:srgbClr val="E2E8F0"/>
                </a:solidFill>
              </a:rPr>
              <a:t>점</a:t>
            </a:r>
            <a:r>
              <a:rPr lang="ko-KR" altLang="en-US" sz="3200" dirty="0">
                <a:solidFill>
                  <a:srgbClr val="E2E8F0"/>
                </a:solidFill>
              </a:rPr>
              <a:t> 대폭 </a:t>
            </a:r>
            <a:r>
              <a:rPr lang="ko-KR" altLang="en-US" sz="3200" dirty="0" smtClean="0">
                <a:solidFill>
                  <a:srgbClr val="E2E8F0"/>
                </a:solidFill>
              </a:rPr>
              <a:t>향상</a:t>
            </a:r>
            <a:endParaRPr lang="en-US" altLang="ko-KR" sz="3200" dirty="0" smtClean="0">
              <a:solidFill>
                <a:srgbClr val="E2E8F0"/>
              </a:solidFill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b="1" i="0" u="none" strike="noStrike" dirty="0" err="1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클라우드</a:t>
            </a:r>
            <a:r>
              <a:rPr lang="ko-KR" altLang="en-US" sz="3200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 배포</a:t>
            </a:r>
            <a:r>
              <a:rPr lang="en-US" altLang="ko-KR" sz="3200" b="1" i="0" u="none" strike="noStrike" dirty="0" smtClean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: </a:t>
            </a:r>
            <a:r>
              <a:rPr lang="en-US" altLang="ko-KR" sz="3200" dirty="0" smtClean="0">
                <a:solidFill>
                  <a:srgbClr val="E2E8F0"/>
                </a:solidFill>
              </a:rPr>
              <a:t>GCP </a:t>
            </a:r>
            <a:r>
              <a:rPr lang="en-US" altLang="ko-KR" sz="3200" dirty="0">
                <a:solidFill>
                  <a:srgbClr val="E2E8F0"/>
                </a:solidFill>
              </a:rPr>
              <a:t>Cloud </a:t>
            </a:r>
            <a:r>
              <a:rPr lang="en-US" altLang="ko-KR" sz="3200" dirty="0" smtClean="0">
                <a:solidFill>
                  <a:srgbClr val="E2E8F0"/>
                </a:solidFill>
              </a:rPr>
              <a:t>Run </a:t>
            </a:r>
            <a:r>
              <a:rPr lang="ko-KR" altLang="en-US" sz="3200" dirty="0" smtClean="0">
                <a:solidFill>
                  <a:srgbClr val="E2E8F0"/>
                </a:solidFill>
              </a:rPr>
              <a:t>기반 배포 환경 구성</a:t>
            </a:r>
            <a:endParaRPr lang="en-US" sz="3200" b="1" i="0" u="none" strike="noStrike" dirty="0">
              <a:solidFill>
                <a:srgbClr val="E2E8F0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43200" y="7072923"/>
            <a:ext cx="14935200" cy="16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1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FFFFFF"/>
                </a:solidFill>
                <a:latin typeface="THELuxGoR"/>
                <a:ea typeface="THELuxGoR"/>
                <a:cs typeface="THELuxGoR"/>
              </a:rPr>
              <a:t> </a:t>
            </a: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  <a:p>
            <a:pPr lvl="0" algn="l">
              <a:lnSpc>
                <a:spcPct val="124499"/>
              </a:lnSpc>
            </a:pPr>
            <a:endParaRPr lang="en-US" sz="2933" b="0" i="0" u="none" strike="noStrike" dirty="0">
              <a:solidFill>
                <a:srgbClr val="FFFFFF"/>
              </a:solidFill>
              <a:latin typeface="THELuxGoR"/>
              <a:ea typeface="THELuxGoR"/>
              <a:cs typeface="THELuxGoR"/>
            </a:endParaRPr>
          </a:p>
        </p:txBody>
      </p:sp>
    </p:spTree>
    <p:extLst>
      <p:ext uri="{BB962C8B-B14F-4D97-AF65-F5344CB8AC3E}">
        <p14:creationId xmlns:p14="http://schemas.microsoft.com/office/powerpoint/2010/main" val="167844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848</Words>
  <Application>Microsoft Office PowerPoint</Application>
  <PresentationFormat>사용자 지정</PresentationFormat>
  <Paragraphs>112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맑은 고딕</vt:lpstr>
      <vt:lpstr>Arial</vt:lpstr>
      <vt:lpstr>NanumGothicExtraBold</vt:lpstr>
      <vt:lpstr>NanumGothic</vt:lpstr>
      <vt:lpstr>THELuxGoR</vt:lpstr>
      <vt:lpstr>Wingdings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21</cp:revision>
  <dcterms:created xsi:type="dcterms:W3CDTF">2006-08-16T00:00:00Z</dcterms:created>
  <dcterms:modified xsi:type="dcterms:W3CDTF">2026-08-29T15:11:19Z</dcterms:modified>
</cp:coreProperties>
</file>